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O6nKuzBALB5puA7KQVnA3E8cq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" name="Google Shape;32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6" name="Google Shape;386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0" name="Google Shape;420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4" name="Google Shape;454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1" name="Google Shape;55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5" name="Google Shape;575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4" name="Google Shape;604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2" name="Google Shape;642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24.png"/><Relationship Id="rId6" Type="http://schemas.openxmlformats.org/officeDocument/2006/relationships/image" Target="../media/image9.png"/><Relationship Id="rId7" Type="http://schemas.openxmlformats.org/officeDocument/2006/relationships/image" Target="../media/image22.png"/><Relationship Id="rId8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22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548640" y="347472"/>
            <a:ext cx="3008376" cy="246888"/>
          </a:xfrm>
          <a:prstGeom prst="rect">
            <a:avLst/>
          </a:prstGeom>
          <a:solidFill>
            <a:srgbClr val="007A8C">
              <a:alpha val="25098"/>
            </a:srgbClr>
          </a:solidFill>
          <a:ln cap="flat" cmpd="sng" w="12700">
            <a:solidFill>
              <a:srgbClr val="00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548640" y="384048"/>
            <a:ext cx="30083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A8C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007A8C"/>
                </a:solidFill>
                <a:latin typeface="Consolas"/>
                <a:ea typeface="Consolas"/>
                <a:cs typeface="Consolas"/>
                <a:sym typeface="Consolas"/>
              </a:rPr>
              <a:t>PSIB 2026 · 1er Cuatrimestre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6400800" y="457200"/>
            <a:ext cx="2377440" cy="237744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548640" y="685800"/>
            <a:ext cx="5669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Detección y Segmentación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1298448"/>
            <a:ext cx="5669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00C8E0"/>
                </a:solidFill>
                <a:latin typeface="Trebuchet MS"/>
                <a:ea typeface="Trebuchet MS"/>
                <a:cs typeface="Trebuchet MS"/>
                <a:sym typeface="Trebuchet MS"/>
              </a:rPr>
              <a:t>de Tumores Cerebrales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40" y="2011680"/>
            <a:ext cx="5669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300"/>
              <a:buFont typeface="Calibri"/>
              <a:buNone/>
            </a:pPr>
            <a:r>
              <a:rPr i="1" lang="en-US" sz="15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Procesamiento de Señales e Imágenes Biomédicas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40" y="2487168"/>
            <a:ext cx="4114800" cy="27432"/>
          </a:xfrm>
          <a:prstGeom prst="rect">
            <a:avLst/>
          </a:prstGeom>
          <a:solidFill>
            <a:srgbClr val="00C8E0">
              <a:alpha val="60000"/>
            </a:srgbClr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48640" y="2697480"/>
            <a:ext cx="5029200" cy="1691640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48640" y="2697480"/>
            <a:ext cx="64008" cy="169164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49808" y="2816352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1" lang="en-US" sz="15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Grupo 10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9808" y="3870037"/>
            <a:ext cx="4572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200"/>
              <a:buFont typeface="Calibri"/>
              <a:buNone/>
            </a:pPr>
            <a:r>
              <a:rPr lang="en-US" sz="15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Caroccia, Franco - 64445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749808" y="3175070"/>
            <a:ext cx="4572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200"/>
              <a:buFont typeface="Calibri"/>
              <a:buNone/>
            </a:pPr>
            <a:r>
              <a:rPr lang="en-US" sz="15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Kestelboim, Andres - 64430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49808" y="3522542"/>
            <a:ext cx="4572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200"/>
              <a:buFont typeface="Calibri"/>
              <a:buNone/>
            </a:pPr>
            <a:r>
              <a:rPr lang="en-US" sz="15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Suarez, Ivan Nicolás - 63770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400800" y="470916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Entrega: 10 / 06 / 2026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20040" y="201168"/>
            <a:ext cx="1371600" cy="246888"/>
          </a:xfrm>
          <a:prstGeom prst="rect">
            <a:avLst/>
          </a:prstGeom>
          <a:solidFill>
            <a:srgbClr val="A78BFA">
              <a:alpha val="25098"/>
            </a:srgbClr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20040" y="237744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ÍNDICE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20040" y="4572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Contenido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20040" y="1097280"/>
            <a:ext cx="4206240" cy="1572768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20040" y="1097280"/>
            <a:ext cx="64008" cy="1572768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" name="Google Shape;3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234440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1033272" y="1225296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00C8E0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02920" y="171907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lang="en-US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02920" y="2103120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50"/>
              <a:buFont typeface="Calibri"/>
              <a:buNone/>
            </a:pPr>
            <a:r>
              <a:rPr lang="en-US" sz="15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Marco teórico - Estado del arte - Objetivos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20040" y="2880360"/>
            <a:ext cx="4206240" cy="1572768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20040" y="2880360"/>
            <a:ext cx="64008" cy="1572768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" name="Google Shape;4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3017520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/>
          <p:nvPr/>
        </p:nvSpPr>
        <p:spPr>
          <a:xfrm>
            <a:off x="1033272" y="3008376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00A896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02920" y="350215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lang="en-US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Materiales y Métodos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02920" y="3886200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50"/>
              <a:buFont typeface="Calibri"/>
              <a:buNone/>
            </a:pPr>
            <a:r>
              <a:rPr lang="en-US" sz="15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Dataset FLAIR - Preprocesamiento - Segmentación adaptativa - Métricas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754880" y="1097280"/>
            <a:ext cx="4206240" cy="1572768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754880" y="1097280"/>
            <a:ext cx="64008" cy="1572768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" name="Google Shape;5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7760" y="1234440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"/>
          <p:cNvSpPr/>
          <p:nvPr/>
        </p:nvSpPr>
        <p:spPr>
          <a:xfrm>
            <a:off x="5468112" y="1225296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937760" y="171907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lang="en-US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Resultados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937750" y="2103125"/>
            <a:ext cx="4023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50"/>
              <a:buFont typeface="Calibri"/>
              <a:buNone/>
            </a:pPr>
            <a:r>
              <a:rPr lang="en-US" sz="15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Preprocesamiento + GLCM - Histogramas Dice - Segmentaciones - Características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754880" y="2880360"/>
            <a:ext cx="4206240" cy="1572768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754880" y="2880360"/>
            <a:ext cx="64008" cy="1572768"/>
          </a:xfrm>
          <a:prstGeom prst="rect">
            <a:avLst/>
          </a:prstGeom>
          <a:solidFill>
            <a:srgbClr val="B45F06"/>
          </a:solidFill>
          <a:ln cap="flat" cmpd="sng" w="127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" name="Google Shape;5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37760" y="3017520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"/>
          <p:cNvSpPr/>
          <p:nvPr/>
        </p:nvSpPr>
        <p:spPr>
          <a:xfrm>
            <a:off x="5468112" y="3008376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B45F06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sz="1100">
              <a:solidFill>
                <a:srgbClr val="B45F0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937760" y="350215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lang="en-US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937760" y="3886200"/>
            <a:ext cx="3840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50"/>
              <a:buFont typeface="Calibri"/>
              <a:buNone/>
            </a:pPr>
            <a:r>
              <a:rPr lang="en-US" sz="15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Logros - Limitaciones - Trabajo futuro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20040" y="201168"/>
            <a:ext cx="1952244" cy="246888"/>
          </a:xfrm>
          <a:prstGeom prst="rect">
            <a:avLst/>
          </a:prstGeom>
          <a:solidFill>
            <a:srgbClr val="00C8E0">
              <a:alpha val="25098"/>
            </a:srgbClr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20040" y="237744"/>
            <a:ext cx="19522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00C8E0"/>
                </a:solidFill>
                <a:latin typeface="Consolas"/>
                <a:ea typeface="Consolas"/>
                <a:cs typeface="Consolas"/>
                <a:sym typeface="Consolas"/>
              </a:rPr>
              <a:t>01 · INTRODUCCIÓN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320040" y="502920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lang="en-US"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Marco Teórico &amp; Estado del Arte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274320" y="1188720"/>
            <a:ext cx="4069080" cy="3657600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274320" y="1188720"/>
            <a:ext cx="64008" cy="3657600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" name="Google Shape;7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258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/>
          <p:nvPr/>
        </p:nvSpPr>
        <p:spPr>
          <a:xfrm>
            <a:off x="960120" y="1325880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200"/>
              <a:buFont typeface="Trebuchet MS"/>
              <a:buNone/>
            </a:pPr>
            <a:r>
              <a:rPr b="1" lang="en-US">
                <a:solidFill>
                  <a:srgbClr val="00C8E0"/>
                </a:solidFill>
                <a:latin typeface="Trebuchet MS"/>
                <a:ea typeface="Trebuchet MS"/>
                <a:cs typeface="Trebuchet MS"/>
                <a:sym typeface="Trebuchet MS"/>
              </a:rPr>
              <a:t>Resonancia Magnética Nuclear (RMN)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57200" y="1828800"/>
            <a:ext cx="3749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Alta resolución espacial</a:t>
            </a:r>
            <a:endParaRPr sz="1500">
              <a:solidFill>
                <a:srgbClr val="CDD5E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Sin radiación ionizante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Matrices 2D de intensidades [0-255]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Desafíos: ruido intrínseco y artefactos de campo dificultan la segmentación directa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57200" y="2999232"/>
            <a:ext cx="3749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00A896"/>
                </a:solidFill>
                <a:latin typeface="Trebuchet MS"/>
                <a:ea typeface="Trebuchet MS"/>
                <a:cs typeface="Trebuchet MS"/>
                <a:sym typeface="Trebuchet MS"/>
              </a:rPr>
              <a:t>Algoritmos aplicados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38900" y="3365000"/>
            <a:ext cx="3832800" cy="310800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38912" y="3364992"/>
            <a:ext cx="54864" cy="310896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548640" y="341071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950"/>
              <a:buFont typeface="Calibri"/>
              <a:buNone/>
            </a:pPr>
            <a:r>
              <a:rPr b="1" lang="en-US" sz="1150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Filtro Bilateral  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1462875" y="3410700"/>
            <a:ext cx="269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Suavizado no lineal - preserva bordes tumorales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38900" y="3712475"/>
            <a:ext cx="3832800" cy="310800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38912" y="3712464"/>
            <a:ext cx="54864" cy="310896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48640" y="3758184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50"/>
              <a:buFont typeface="Calibri"/>
              <a:buNone/>
            </a:pPr>
            <a:r>
              <a:rPr b="1" lang="en-US" sz="115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Multi-Otsu  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1279075" y="3758175"/>
            <a:ext cx="288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Umbralización múltiple - varianza interclase máxima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38900" y="4059925"/>
            <a:ext cx="3832800" cy="310800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38912" y="4059936"/>
            <a:ext cx="54864" cy="310896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548640" y="4105656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50"/>
              <a:buFont typeface="Calibri"/>
              <a:buNone/>
            </a:pPr>
            <a:r>
              <a:rPr b="1" lang="en-US" sz="115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Region Growing  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1539375" y="4105650"/>
            <a:ext cx="262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Expansión desde semilla con criterio de similitud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38900" y="4407400"/>
            <a:ext cx="3832800" cy="310800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38912" y="4407408"/>
            <a:ext cx="54864" cy="310896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548640" y="445312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50"/>
              <a:buFont typeface="Calibri"/>
              <a:buNone/>
            </a:pPr>
            <a:r>
              <a:rPr b="1" lang="en-US" sz="1150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Morfología Matemática  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2025975" y="4453125"/>
            <a:ext cx="224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Cierre/apertura + llenado de huecos internos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572000" y="1188720"/>
            <a:ext cx="4251960" cy="1600200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4572000" y="1188720"/>
            <a:ext cx="64008" cy="16002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754880" y="1298448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200"/>
              <a:buFont typeface="Trebuchet MS"/>
              <a:buNone/>
            </a:pPr>
            <a:r>
              <a:rPr b="1" lang="en-US">
                <a:solidFill>
                  <a:srgbClr val="F5A623"/>
                </a:solidFill>
                <a:latin typeface="Trebuchet MS"/>
                <a:ea typeface="Trebuchet MS"/>
                <a:cs typeface="Trebuchet MS"/>
                <a:sym typeface="Trebuchet MS"/>
              </a:rPr>
              <a:t>Estado del Arte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754875" y="1694625"/>
            <a:ext cx="4069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D6D"/>
              </a:buClr>
              <a:buSzPts val="1050"/>
              <a:buFont typeface="Calibri"/>
              <a:buNone/>
            </a:pPr>
            <a:r>
              <a:rPr b="1" lang="en-US" sz="1300">
                <a:solidFill>
                  <a:srgbClr val="FF4D6D"/>
                </a:solidFill>
                <a:latin typeface="Calibri"/>
                <a:ea typeface="Calibri"/>
                <a:cs typeface="Calibri"/>
                <a:sym typeface="Calibri"/>
              </a:rPr>
              <a:t>Histórico: </a:t>
            </a:r>
            <a:r>
              <a:rPr lang="en-US" sz="13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Trazado manual, alta variabilidad interobservador</a:t>
            </a:r>
            <a:br>
              <a:rPr lang="en-US" sz="13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3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Métodos clásicos: </a:t>
            </a:r>
            <a:r>
              <a:rPr lang="en-US" sz="13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Bajo costo, interpretabilidad matemática</a:t>
            </a:r>
            <a:br>
              <a:rPr lang="en-US" sz="13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3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Deep Learning: </a:t>
            </a:r>
            <a:r>
              <a:rPr lang="en-US" sz="13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Domina el arte, requiere grandes datasets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562850" y="2926105"/>
            <a:ext cx="4251900" cy="1920300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572000" y="2926080"/>
            <a:ext cx="64008" cy="192024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4754880" y="3035808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Trebuchet MS"/>
              <a:buNone/>
            </a:pPr>
            <a:r>
              <a:rPr b="1" lang="en-US">
                <a:solidFill>
                  <a:srgbClr val="00A896"/>
                </a:solidFill>
                <a:latin typeface="Trebuchet MS"/>
                <a:ea typeface="Trebuchet MS"/>
                <a:cs typeface="Trebuchet MS"/>
                <a:sym typeface="Trebuchet MS"/>
              </a:rPr>
              <a:t>Objetivos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4754880" y="3373294"/>
            <a:ext cx="3977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000"/>
              <a:buFont typeface="Calibri"/>
              <a:buNone/>
            </a:pPr>
            <a:r>
              <a:rPr b="1" lang="en-US" sz="1200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General: </a:t>
            </a:r>
            <a:r>
              <a:rPr lang="en-US" sz="12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Segmentar automáticamente tumores en RMN y extraer métricas morfológicas/texturales.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4754880" y="3758866"/>
            <a:ext cx="3977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000"/>
              <a:buFont typeface="Calibri"/>
              <a:buNone/>
            </a:pPr>
            <a:r>
              <a:rPr b="1" lang="en-US" sz="1200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Preprocesamiento: </a:t>
            </a:r>
            <a:r>
              <a:rPr lang="en-US" sz="12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Reducir ruido sin alterar morfología del tejido.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754880" y="4068238"/>
            <a:ext cx="3977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000"/>
              <a:buFont typeface="Calibri"/>
              <a:buNone/>
            </a:pPr>
            <a:r>
              <a:rPr b="1" lang="en-US" sz="1200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GLCM: </a:t>
            </a:r>
            <a:r>
              <a:rPr lang="en-US" sz="12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Caracterizar cuantitativamente el tejido segmentado.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754880" y="4415710"/>
            <a:ext cx="3977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000"/>
              <a:buFont typeface="Calibri"/>
              <a:buNone/>
            </a:pPr>
            <a:r>
              <a:rPr b="1" lang="en-US" sz="1200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Adaptativo: </a:t>
            </a:r>
            <a:r>
              <a:rPr lang="en-US" sz="12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Pipeline dinámico que evalúa estrategias en tiempo real.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320040" y="201168"/>
            <a:ext cx="2720340" cy="246888"/>
          </a:xfrm>
          <a:prstGeom prst="rect">
            <a:avLst/>
          </a:prstGeom>
          <a:solidFill>
            <a:srgbClr val="00A896">
              <a:alpha val="25098"/>
            </a:srgbClr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320040" y="237744"/>
            <a:ext cx="27203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00A896"/>
                </a:solidFill>
                <a:latin typeface="Consolas"/>
                <a:ea typeface="Consolas"/>
                <a:cs typeface="Consolas"/>
                <a:sym typeface="Consolas"/>
              </a:rPr>
              <a:t>02 · MATERIALES &amp; MÉTODOS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320040" y="502920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lang="en-US"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 y Flujo de Preprocesamiento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274320" y="1188720"/>
            <a:ext cx="4069080" cy="1417320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274320" y="1188720"/>
            <a:ext cx="64008" cy="141732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4" name="Google Shape;1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9844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/>
          <p:nvPr/>
        </p:nvSpPr>
        <p:spPr>
          <a:xfrm>
            <a:off x="914400" y="1298448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Trebuchet MS"/>
              <a:buNone/>
            </a:pPr>
            <a:r>
              <a:rPr b="1" lang="en-US" sz="1500">
                <a:solidFill>
                  <a:srgbClr val="00A896"/>
                </a:solidFill>
                <a:latin typeface="Trebuchet MS"/>
                <a:ea typeface="Trebuchet MS"/>
                <a:cs typeface="Trebuchet MS"/>
                <a:sym typeface="Trebuchet MS"/>
              </a:rPr>
              <a:t>Brain MRI Segmentation (Kaggle)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57200" y="1719072"/>
            <a:ext cx="3749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050"/>
              <a:buFont typeface="Calibri"/>
              <a:buNone/>
            </a:pPr>
            <a:r>
              <a:rPr lang="en-US" sz="15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Cortes axiales - Secuencia FLAIR - Máscaras Ground Truth validadas por especialistas clínicos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572000" y="1188720"/>
            <a:ext cx="4251960" cy="1417320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4572000" y="1188720"/>
            <a:ext cx="64008" cy="1417320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754880" y="1298448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200"/>
              <a:buFont typeface="Trebuchet MS"/>
              <a:buNone/>
            </a:pPr>
            <a:r>
              <a:rPr b="1" lang="en-US" sz="1500">
                <a:solidFill>
                  <a:srgbClr val="00C8E0"/>
                </a:solidFill>
                <a:latin typeface="Trebuchet MS"/>
                <a:ea typeface="Trebuchet MS"/>
                <a:cs typeface="Trebuchet MS"/>
                <a:sym typeface="Trebuchet MS"/>
              </a:rPr>
              <a:t>¿Por qué FLAIR?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754880" y="1719072"/>
            <a:ext cx="3977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050"/>
              <a:buFont typeface="Calibri"/>
              <a:buNone/>
            </a:pPr>
            <a:r>
              <a:rPr lang="en-US" sz="15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Atenúa la señal del LCR libre, por lo que las regiones con edema o tumor aparecen hiperintensas vs. parénquima sano.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200046" y="2788920"/>
            <a:ext cx="2651700" cy="1371600"/>
          </a:xfrm>
          <a:prstGeom prst="rect">
            <a:avLst/>
          </a:prstGeom>
          <a:solidFill>
            <a:srgbClr val="00A896">
              <a:alpha val="12156"/>
            </a:srgbClr>
          </a:solidFill>
          <a:ln cap="flat" cmpd="sng" w="1905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200046" y="2788920"/>
            <a:ext cx="2651700" cy="549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1397803" y="2665422"/>
            <a:ext cx="256200" cy="183000"/>
          </a:xfrm>
          <a:prstGeom prst="roundRect">
            <a:avLst>
              <a:gd fmla="val 3524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291486" y="3017520"/>
            <a:ext cx="2469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Trebuchet MS"/>
              <a:buNone/>
            </a:pPr>
            <a:r>
              <a:rPr b="1" lang="en-US" sz="1800">
                <a:solidFill>
                  <a:srgbClr val="00A896"/>
                </a:solidFill>
                <a:latin typeface="Trebuchet MS"/>
                <a:ea typeface="Trebuchet MS"/>
                <a:cs typeface="Trebuchet MS"/>
                <a:sym typeface="Trebuchet MS"/>
              </a:rPr>
              <a:t>Escala de Grises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291486" y="3447288"/>
            <a:ext cx="2469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050"/>
              <a:buFont typeface="Calibri"/>
              <a:buNone/>
            </a:pPr>
            <a:r>
              <a:rPr lang="en-US" sz="15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Conversión a matriz 2D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050"/>
              <a:buFont typeface="Calibri"/>
              <a:buNone/>
            </a:pPr>
            <a:r>
              <a:rPr lang="en-US" sz="15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Rango [0, 255]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6" name="Google Shape;12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61534" y="333756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/>
          <p:nvPr/>
        </p:nvSpPr>
        <p:spPr>
          <a:xfrm>
            <a:off x="3281574" y="2788920"/>
            <a:ext cx="2651700" cy="1371600"/>
          </a:xfrm>
          <a:prstGeom prst="rect">
            <a:avLst/>
          </a:prstGeom>
          <a:solidFill>
            <a:srgbClr val="00C8E0">
              <a:alpha val="12156"/>
            </a:srgbClr>
          </a:solidFill>
          <a:ln cap="flat" cmpd="sng" w="1905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3281574" y="2788920"/>
            <a:ext cx="2651700" cy="54900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3373014" y="3017520"/>
            <a:ext cx="2469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200"/>
              <a:buFont typeface="Trebuchet MS"/>
              <a:buNone/>
            </a:pPr>
            <a:r>
              <a:rPr b="1" lang="en-US" sz="1800">
                <a:solidFill>
                  <a:srgbClr val="00C8E0"/>
                </a:solidFill>
                <a:latin typeface="Trebuchet MS"/>
                <a:ea typeface="Trebuchet MS"/>
                <a:cs typeface="Trebuchet MS"/>
                <a:sym typeface="Trebuchet MS"/>
              </a:rPr>
              <a:t>Filtro Mediana 3×3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3373014" y="3447288"/>
            <a:ext cx="2469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050"/>
              <a:buFont typeface="Calibri"/>
              <a:buNone/>
            </a:pPr>
            <a:r>
              <a:rPr lang="en-US" sz="15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Remueve ruido impulsivo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050"/>
              <a:buFont typeface="Calibri"/>
              <a:buNone/>
            </a:pPr>
            <a:r>
              <a:rPr lang="en-US" sz="15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Mantiene nitidez de bordes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" name="Google Shape;1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43062" y="333756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"/>
          <p:cNvSpPr/>
          <p:nvPr/>
        </p:nvSpPr>
        <p:spPr>
          <a:xfrm>
            <a:off x="6363102" y="2788920"/>
            <a:ext cx="2651700" cy="1371600"/>
          </a:xfrm>
          <a:prstGeom prst="rect">
            <a:avLst/>
          </a:prstGeom>
          <a:solidFill>
            <a:srgbClr val="F5A623">
              <a:alpha val="12156"/>
            </a:srgbClr>
          </a:solidFill>
          <a:ln cap="flat" cmpd="sng" w="1905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6363102" y="2788920"/>
            <a:ext cx="2651700" cy="549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6454542" y="3017520"/>
            <a:ext cx="2469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200"/>
              <a:buFont typeface="Trebuchet MS"/>
              <a:buNone/>
            </a:pPr>
            <a:r>
              <a:rPr b="1" lang="en-US" sz="1800">
                <a:solidFill>
                  <a:srgbClr val="F5A623"/>
                </a:solidFill>
                <a:latin typeface="Trebuchet MS"/>
                <a:ea typeface="Trebuchet MS"/>
                <a:cs typeface="Trebuchet MS"/>
                <a:sym typeface="Trebuchet MS"/>
              </a:rPr>
              <a:t>CLAHE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6454542" y="3447288"/>
            <a:ext cx="2469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050"/>
              <a:buFont typeface="Calibri"/>
              <a:buNone/>
            </a:pPr>
            <a:r>
              <a:rPr lang="en-US" sz="15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Ecualización adaptativa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050"/>
              <a:buFont typeface="Calibri"/>
              <a:buNone/>
            </a:pPr>
            <a:r>
              <a:rPr lang="en-US" sz="15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Realza bordes tumorales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274320" y="4251960"/>
            <a:ext cx="8549640" cy="685800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274320" y="4251960"/>
            <a:ext cx="64008" cy="68580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57200" y="4352554"/>
            <a:ext cx="20118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Calibri"/>
              <a:buNone/>
            </a:pPr>
            <a:r>
              <a:rPr b="1" lang="en-US" sz="1500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Extracción de textura GLCM: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2560325" y="4270375"/>
            <a:ext cx="6126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000"/>
              <a:buFont typeface="Calibri"/>
              <a:buNone/>
            </a:pPr>
            <a:r>
              <a:rPr b="1" lang="en-US" sz="1300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Contraste: </a:t>
            </a:r>
            <a:r>
              <a:rPr lang="en-US" sz="13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intensidad local entre píxeles vecinos</a:t>
            </a:r>
            <a:endParaRPr sz="1300">
              <a:solidFill>
                <a:srgbClr val="CDD5E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000"/>
              <a:buFont typeface="Calibri"/>
              <a:buNone/>
            </a:pPr>
            <a:r>
              <a:rPr b="1" lang="en-US" sz="13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Homogeneidad: </a:t>
            </a:r>
            <a:r>
              <a:rPr lang="en-US" sz="13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cercanía a la diagonal de la GLCM</a:t>
            </a:r>
            <a:endParaRPr sz="1300">
              <a:solidFill>
                <a:srgbClr val="CDD5E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000"/>
              <a:buFont typeface="Calibri"/>
              <a:buNone/>
            </a:pPr>
            <a:r>
              <a:rPr b="1" lang="en-US" sz="13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Energía: </a:t>
            </a:r>
            <a:r>
              <a:rPr lang="en-US" sz="13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uniformidad de transiciones de gris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4479353" y="2665422"/>
            <a:ext cx="256200" cy="183000"/>
          </a:xfrm>
          <a:prstGeom prst="roundRect">
            <a:avLst>
              <a:gd fmla="val 3524" name="adj"/>
            </a:avLst>
          </a:prstGeom>
          <a:solidFill>
            <a:srgbClr val="00C8E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7560903" y="2665409"/>
            <a:ext cx="256200" cy="183000"/>
          </a:xfrm>
          <a:prstGeom prst="roundRect">
            <a:avLst>
              <a:gd fmla="val 3524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320040" y="201168"/>
            <a:ext cx="2720340" cy="246888"/>
          </a:xfrm>
          <a:prstGeom prst="rect">
            <a:avLst/>
          </a:prstGeom>
          <a:solidFill>
            <a:srgbClr val="00C8E0">
              <a:alpha val="25098"/>
            </a:srgbClr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320040" y="237744"/>
            <a:ext cx="27203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00C8E0"/>
                </a:solidFill>
                <a:latin typeface="Consolas"/>
                <a:ea typeface="Consolas"/>
                <a:cs typeface="Consolas"/>
                <a:sym typeface="Consolas"/>
              </a:rPr>
              <a:t>02 · MATERIALES &amp; MÉTODOS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320040" y="502920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lang="en-US"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Pipeline de Segmentación Adaptativo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320040" y="107899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Evalúa múltiples estrategias en tiempo real y selecciona la que maximiza el Dice Score vs. Ground Truth médico.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201168" y="1444752"/>
            <a:ext cx="1609344" cy="3246120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201168" y="1444752"/>
            <a:ext cx="1609344" cy="54864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749788" y="1572768"/>
            <a:ext cx="493800" cy="493800"/>
          </a:xfrm>
          <a:prstGeom prst="flowChartOffpageConnector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5" name="Google Shape;15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2212848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5"/>
          <p:cNvSpPr/>
          <p:nvPr/>
        </p:nvSpPr>
        <p:spPr>
          <a:xfrm>
            <a:off x="265176" y="2788920"/>
            <a:ext cx="148132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Trebuchet MS"/>
              <a:buNone/>
            </a:pPr>
            <a:r>
              <a:rPr b="1" lang="en-US" sz="1500">
                <a:solidFill>
                  <a:srgbClr val="00A896"/>
                </a:solidFill>
                <a:latin typeface="Trebuchet MS"/>
                <a:ea typeface="Trebuchet MS"/>
                <a:cs typeface="Trebuchet MS"/>
                <a:sym typeface="Trebuchet MS"/>
              </a:rPr>
              <a:t>ROI +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Trebuchet MS"/>
              <a:buNone/>
            </a:pPr>
            <a:r>
              <a:rPr b="1" lang="en-US" sz="1500">
                <a:solidFill>
                  <a:srgbClr val="00A896"/>
                </a:solidFill>
                <a:latin typeface="Trebuchet MS"/>
                <a:ea typeface="Trebuchet MS"/>
                <a:cs typeface="Trebuchet MS"/>
                <a:sym typeface="Trebuchet MS"/>
              </a:rPr>
              <a:t>Bilateral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265176" y="3456432"/>
            <a:ext cx="148132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alibri"/>
              <a:buNone/>
            </a:pPr>
            <a:r>
              <a:rPr lang="en-US" sz="15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Aísla tumor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alibri"/>
              <a:buNone/>
            </a:pPr>
            <a:r>
              <a:rPr lang="en-US" sz="15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d=9, σc=75, σs=75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8" name="Google Shape;15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8800" y="3017520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5"/>
          <p:cNvSpPr/>
          <p:nvPr/>
        </p:nvSpPr>
        <p:spPr>
          <a:xfrm>
            <a:off x="1975104" y="1444752"/>
            <a:ext cx="1609344" cy="3246120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1975104" y="1444752"/>
            <a:ext cx="1609344" cy="54864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2532872" y="1572768"/>
            <a:ext cx="493800" cy="493800"/>
          </a:xfrm>
          <a:prstGeom prst="flowChartOffpageConnector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2" name="Google Shape;16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51176" y="2212848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5"/>
          <p:cNvSpPr/>
          <p:nvPr/>
        </p:nvSpPr>
        <p:spPr>
          <a:xfrm>
            <a:off x="2039112" y="2788920"/>
            <a:ext cx="148132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100"/>
              <a:buFont typeface="Trebuchet MS"/>
              <a:buNone/>
            </a:pPr>
            <a:r>
              <a:rPr b="1" lang="en-US" sz="1500">
                <a:solidFill>
                  <a:srgbClr val="A78BFA"/>
                </a:solidFill>
                <a:latin typeface="Trebuchet MS"/>
                <a:ea typeface="Trebuchet MS"/>
                <a:cs typeface="Trebuchet MS"/>
                <a:sym typeface="Trebuchet MS"/>
              </a:rPr>
              <a:t>Multi-Otsu</a:t>
            </a:r>
            <a:endParaRPr sz="1500">
              <a:solidFill>
                <a:srgbClr val="A78BF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2039112" y="3456432"/>
            <a:ext cx="148132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alibri"/>
              <a:buNone/>
            </a:pPr>
            <a:r>
              <a:rPr lang="en-US" sz="15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4 clases, componente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alibri"/>
              <a:buNone/>
            </a:pPr>
            <a:r>
              <a:rPr lang="en-US" sz="15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conexa con semilla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5" name="Google Shape;16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2736" y="3017520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5"/>
          <p:cNvSpPr/>
          <p:nvPr/>
        </p:nvSpPr>
        <p:spPr>
          <a:xfrm>
            <a:off x="3749040" y="1444752"/>
            <a:ext cx="1609344" cy="3246120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3749040" y="1444752"/>
            <a:ext cx="1609344" cy="54864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288532" y="1572768"/>
            <a:ext cx="493800" cy="493800"/>
          </a:xfrm>
          <a:prstGeom prst="flowChartOffpageConnector">
            <a:avLst/>
          </a:prstGeom>
          <a:solidFill>
            <a:srgbClr val="00C8E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9" name="Google Shape;16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25112" y="2212848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5"/>
          <p:cNvSpPr/>
          <p:nvPr/>
        </p:nvSpPr>
        <p:spPr>
          <a:xfrm>
            <a:off x="3813048" y="2788920"/>
            <a:ext cx="148132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00"/>
              <a:buFont typeface="Trebuchet MS"/>
              <a:buNone/>
            </a:pPr>
            <a:r>
              <a:rPr b="1" lang="en-US" sz="1500">
                <a:solidFill>
                  <a:srgbClr val="00C8E0"/>
                </a:solidFill>
                <a:latin typeface="Trebuchet MS"/>
                <a:ea typeface="Trebuchet MS"/>
                <a:cs typeface="Trebuchet MS"/>
                <a:sym typeface="Trebuchet MS"/>
              </a:rPr>
              <a:t>Region Growing</a:t>
            </a:r>
            <a:endParaRPr sz="1500">
              <a:solidFill>
                <a:srgbClr val="00C8E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00"/>
              <a:buFont typeface="Trebuchet MS"/>
              <a:buNone/>
            </a:pPr>
            <a:r>
              <a:rPr b="1" lang="en-US" sz="1500">
                <a:solidFill>
                  <a:srgbClr val="00C8E0"/>
                </a:solidFill>
                <a:latin typeface="Trebuchet MS"/>
                <a:ea typeface="Trebuchet MS"/>
                <a:cs typeface="Trebuchet MS"/>
                <a:sym typeface="Trebuchet MS"/>
              </a:rPr>
              <a:t>Guiado</a:t>
            </a:r>
            <a:endParaRPr sz="1500">
              <a:solidFill>
                <a:srgbClr val="00C8E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3813048" y="3456432"/>
            <a:ext cx="148132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alibri"/>
              <a:buNone/>
            </a:pPr>
            <a:r>
              <a:rPr lang="en-US" sz="15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Límite Otsu,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alibri"/>
              <a:buNone/>
            </a:pPr>
            <a:r>
              <a:rPr lang="en-US" sz="15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tolerancia definida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2" name="Google Shape;17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6672" y="3017520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5"/>
          <p:cNvSpPr/>
          <p:nvPr/>
        </p:nvSpPr>
        <p:spPr>
          <a:xfrm>
            <a:off x="5522976" y="1444752"/>
            <a:ext cx="1609344" cy="3246120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5522976" y="1444752"/>
            <a:ext cx="1609344" cy="54864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6080748" y="1572768"/>
            <a:ext cx="493800" cy="493800"/>
          </a:xfrm>
          <a:prstGeom prst="flowChartOffpageConnector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6" name="Google Shape;176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99048" y="2212848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5"/>
          <p:cNvSpPr/>
          <p:nvPr/>
        </p:nvSpPr>
        <p:spPr>
          <a:xfrm>
            <a:off x="5586984" y="2788920"/>
            <a:ext cx="148132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Trebuchet MS"/>
              <a:buNone/>
            </a:pPr>
            <a:r>
              <a:rPr b="1" lang="en-US" sz="1500">
                <a:solidFill>
                  <a:srgbClr val="F5A623"/>
                </a:solidFill>
                <a:latin typeface="Trebuchet MS"/>
                <a:ea typeface="Trebuchet MS"/>
                <a:cs typeface="Trebuchet MS"/>
                <a:sym typeface="Trebuchet MS"/>
              </a:rPr>
              <a:t>Region Growing</a:t>
            </a:r>
            <a:endParaRPr sz="1500">
              <a:solidFill>
                <a:srgbClr val="F5A6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Trebuchet MS"/>
              <a:buNone/>
            </a:pPr>
            <a:r>
              <a:rPr b="1" lang="en-US" sz="1500">
                <a:solidFill>
                  <a:srgbClr val="F5A623"/>
                </a:solidFill>
                <a:latin typeface="Trebuchet MS"/>
                <a:ea typeface="Trebuchet MS"/>
                <a:cs typeface="Trebuchet MS"/>
                <a:sym typeface="Trebuchet MS"/>
              </a:rPr>
              <a:t>Libre</a:t>
            </a:r>
            <a:endParaRPr sz="1500">
              <a:solidFill>
                <a:srgbClr val="F5A6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5586984" y="3456432"/>
            <a:ext cx="148132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alibri"/>
              <a:buNone/>
            </a:pPr>
            <a:r>
              <a:rPr lang="en-US" sz="15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Sin límite,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alibri"/>
              <a:buNone/>
            </a:pPr>
            <a:r>
              <a:rPr lang="en-US" sz="15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tolerancia permisiva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9" name="Google Shape;17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0608" y="3017520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5"/>
          <p:cNvSpPr/>
          <p:nvPr/>
        </p:nvSpPr>
        <p:spPr>
          <a:xfrm>
            <a:off x="7296912" y="1444752"/>
            <a:ext cx="1609344" cy="3246120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FF4D6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7296912" y="1444752"/>
            <a:ext cx="1609344" cy="54864"/>
          </a:xfrm>
          <a:prstGeom prst="rect">
            <a:avLst/>
          </a:prstGeom>
          <a:solidFill>
            <a:srgbClr val="FF4D6D"/>
          </a:solidFill>
          <a:ln cap="flat" cmpd="sng" w="12700">
            <a:solidFill>
              <a:srgbClr val="FF4D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7845541" y="1572768"/>
            <a:ext cx="493800" cy="493800"/>
          </a:xfrm>
          <a:prstGeom prst="flowChartOffpageConnector">
            <a:avLst/>
          </a:prstGeom>
          <a:solidFill>
            <a:srgbClr val="FF4D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3" name="Google Shape;183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72984" y="2212848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5"/>
          <p:cNvSpPr/>
          <p:nvPr/>
        </p:nvSpPr>
        <p:spPr>
          <a:xfrm>
            <a:off x="7360920" y="2788920"/>
            <a:ext cx="148132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D6D"/>
              </a:buClr>
              <a:buSzPts val="1100"/>
              <a:buFont typeface="Trebuchet MS"/>
              <a:buNone/>
            </a:pPr>
            <a:r>
              <a:rPr b="1" lang="en-US" sz="1500">
                <a:solidFill>
                  <a:srgbClr val="FF4D6D"/>
                </a:solidFill>
                <a:latin typeface="Trebuchet MS"/>
                <a:ea typeface="Trebuchet MS"/>
                <a:cs typeface="Trebuchet MS"/>
                <a:sym typeface="Trebuchet MS"/>
              </a:rPr>
              <a:t>Refinamiento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D6D"/>
              </a:buClr>
              <a:buSzPts val="1100"/>
              <a:buFont typeface="Trebuchet MS"/>
              <a:buNone/>
            </a:pPr>
            <a:r>
              <a:rPr b="1" lang="en-US" sz="1500">
                <a:solidFill>
                  <a:srgbClr val="FF4D6D"/>
                </a:solidFill>
                <a:latin typeface="Trebuchet MS"/>
                <a:ea typeface="Trebuchet MS"/>
                <a:cs typeface="Trebuchet MS"/>
                <a:sym typeface="Trebuchet MS"/>
              </a:rPr>
              <a:t>Morfológico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7360920" y="3456432"/>
            <a:ext cx="148132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alibri"/>
              <a:buNone/>
            </a:pPr>
            <a:r>
              <a:rPr lang="en-US" sz="15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Cierre/apertura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alibri"/>
              <a:buNone/>
            </a:pPr>
            <a:r>
              <a:rPr lang="en-US" sz="15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3×3 → 7×7 + llenado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320040" y="201168"/>
            <a:ext cx="2720340" cy="246888"/>
          </a:xfrm>
          <a:prstGeom prst="rect">
            <a:avLst/>
          </a:prstGeom>
          <a:solidFill>
            <a:srgbClr val="F5A623">
              <a:alpha val="25098"/>
            </a:srgbClr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320040" y="237744"/>
            <a:ext cx="27203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02 · MATERIALES &amp; MÉTODOS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320040" y="502920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lang="en-US"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Métricas de Evaluación del Modelo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1847088" y="1207008"/>
            <a:ext cx="1572768" cy="653796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1847088" y="1298448"/>
            <a:ext cx="15727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950"/>
              <a:buFont typeface="Calibri"/>
              <a:buNone/>
            </a:pPr>
            <a:r>
              <a:rPr b="1" lang="en-US" sz="115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Real</a:t>
            </a:r>
            <a:r>
              <a:rPr b="1" lang="en-US" sz="115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: TUMOR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3419856" y="1207008"/>
            <a:ext cx="1572768" cy="653796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3419856" y="1298448"/>
            <a:ext cx="15727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950"/>
              <a:buFont typeface="Calibri"/>
              <a:buNone/>
            </a:pPr>
            <a:r>
              <a:rPr b="1" lang="en-US" sz="115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Real</a:t>
            </a:r>
            <a:r>
              <a:rPr b="1" lang="en-US" sz="115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: SANO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274320" y="2212848"/>
            <a:ext cx="1572768" cy="1005840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274320" y="2377440"/>
            <a:ext cx="15727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950"/>
              <a:buFont typeface="Calibri"/>
              <a:buNone/>
            </a:pPr>
            <a:r>
              <a:rPr b="1" lang="en-US" sz="115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Pred</a:t>
            </a:r>
            <a:r>
              <a:rPr b="1" lang="en-US" sz="115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950"/>
              <a:buFont typeface="Calibri"/>
              <a:buNone/>
            </a:pPr>
            <a:r>
              <a:rPr b="1" lang="en-US" sz="115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TUMOR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274320" y="3218688"/>
            <a:ext cx="1572768" cy="1005840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274320" y="3383280"/>
            <a:ext cx="15727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950"/>
              <a:buFont typeface="Calibri"/>
              <a:buNone/>
            </a:pPr>
            <a:r>
              <a:rPr b="1" lang="en-US" sz="115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Pred</a:t>
            </a:r>
            <a:r>
              <a:rPr b="1" lang="en-US" sz="115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950"/>
              <a:buFont typeface="Calibri"/>
              <a:buNone/>
            </a:pPr>
            <a:r>
              <a:rPr b="1" lang="en-US" sz="115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SANO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1847088" y="2212848"/>
            <a:ext cx="1572768" cy="1005840"/>
          </a:xfrm>
          <a:prstGeom prst="rect">
            <a:avLst/>
          </a:prstGeom>
          <a:solidFill>
            <a:srgbClr val="22C55E">
              <a:alpha val="21960"/>
            </a:srgbClr>
          </a:solidFill>
          <a:ln cap="flat" cmpd="sng" w="254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1847088" y="2258568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000"/>
              <a:buFont typeface="Trebuchet MS"/>
              <a:buNone/>
            </a:pPr>
            <a:r>
              <a:rPr b="1" lang="en-US" sz="2000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TP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1920240" y="2670048"/>
            <a:ext cx="142646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Tumor detectado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correctamente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3419856" y="2212848"/>
            <a:ext cx="1572768" cy="1005840"/>
          </a:xfrm>
          <a:prstGeom prst="rect">
            <a:avLst/>
          </a:prstGeom>
          <a:solidFill>
            <a:srgbClr val="FF4D6D">
              <a:alpha val="21960"/>
            </a:srgbClr>
          </a:solidFill>
          <a:ln cap="flat" cmpd="sng" w="25400">
            <a:solidFill>
              <a:srgbClr val="FF4D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3419856" y="2258568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D6D"/>
              </a:buClr>
              <a:buSzPts val="2000"/>
              <a:buFont typeface="Trebuchet MS"/>
              <a:buNone/>
            </a:pPr>
            <a:r>
              <a:rPr b="1" lang="en-US" sz="2000">
                <a:solidFill>
                  <a:srgbClr val="FF4D6D"/>
                </a:solidFill>
                <a:latin typeface="Trebuchet MS"/>
                <a:ea typeface="Trebuchet MS"/>
                <a:cs typeface="Trebuchet MS"/>
                <a:sym typeface="Trebuchet MS"/>
              </a:rPr>
              <a:t>FP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3493008" y="2670048"/>
            <a:ext cx="142646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Sano marcado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como tumor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1847088" y="3218688"/>
            <a:ext cx="1572768" cy="1005840"/>
          </a:xfrm>
          <a:prstGeom prst="rect">
            <a:avLst/>
          </a:prstGeom>
          <a:solidFill>
            <a:srgbClr val="00C8E0">
              <a:alpha val="12160"/>
            </a:srgbClr>
          </a:solidFill>
          <a:ln cap="flat" cmpd="sng" w="254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1847088" y="3264408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000"/>
              <a:buFont typeface="Trebuchet MS"/>
              <a:buNone/>
            </a:pPr>
            <a:r>
              <a:rPr b="1" lang="en-US" sz="2000">
                <a:solidFill>
                  <a:srgbClr val="00C8E0"/>
                </a:solidFill>
                <a:latin typeface="Trebuchet MS"/>
                <a:ea typeface="Trebuchet MS"/>
                <a:cs typeface="Trebuchet MS"/>
                <a:sym typeface="Trebuchet MS"/>
              </a:rPr>
              <a:t>FN</a:t>
            </a:r>
            <a:endParaRPr sz="2000">
              <a:solidFill>
                <a:srgbClr val="00C8E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1920240" y="3675888"/>
            <a:ext cx="142646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Tumor omitido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(peligroso)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3419856" y="3218688"/>
            <a:ext cx="1572768" cy="1005840"/>
          </a:xfrm>
          <a:prstGeom prst="rect">
            <a:avLst/>
          </a:prstGeom>
          <a:solidFill>
            <a:srgbClr val="7A8BA0">
              <a:alpha val="21960"/>
            </a:srgbClr>
          </a:solidFill>
          <a:ln cap="flat" cmpd="sng" w="25400">
            <a:solidFill>
              <a:srgbClr val="7A8B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3419856" y="3264408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2000"/>
              <a:buFont typeface="Trebuchet MS"/>
              <a:buNone/>
            </a:pPr>
            <a:r>
              <a:rPr b="1" lang="en-US" sz="2000">
                <a:solidFill>
                  <a:srgbClr val="7A8BA0"/>
                </a:solidFill>
                <a:latin typeface="Trebuchet MS"/>
                <a:ea typeface="Trebuchet MS"/>
                <a:cs typeface="Trebuchet MS"/>
                <a:sym typeface="Trebuchet MS"/>
              </a:rPr>
              <a:t>TN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3493008" y="3675888"/>
            <a:ext cx="142646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Tejido sano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correcto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5669280" y="1188720"/>
            <a:ext cx="3200400" cy="1691640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5669280" y="1188720"/>
            <a:ext cx="64008" cy="1691640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5870448" y="1298448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00C8E0"/>
                </a:solidFill>
                <a:latin typeface="Trebuchet MS"/>
                <a:ea typeface="Trebuchet MS"/>
                <a:cs typeface="Trebuchet MS"/>
                <a:sym typeface="Trebuchet MS"/>
              </a:rPr>
              <a:t>Dice Score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5806440" y="1709928"/>
            <a:ext cx="2999232" cy="475488"/>
          </a:xfrm>
          <a:prstGeom prst="rect">
            <a:avLst/>
          </a:prstGeom>
          <a:solidFill>
            <a:srgbClr val="00C8E0">
              <a:alpha val="14901"/>
            </a:srgbClr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5833872" y="1737360"/>
            <a:ext cx="29443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00C8E0"/>
                </a:solidFill>
                <a:latin typeface="Consolas"/>
                <a:ea typeface="Consolas"/>
                <a:cs typeface="Consolas"/>
                <a:sym typeface="Consolas"/>
              </a:rPr>
              <a:t>2*TP / (2*TP + FP + FN)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5870448" y="2267712"/>
            <a:ext cx="287121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950"/>
              <a:buFont typeface="Calibri"/>
              <a:buNone/>
            </a:pPr>
            <a:r>
              <a:rPr lang="en-US" sz="115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Mide solapamiento predicción vs. GT. Penaliza FP y FN por igual.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5669275" y="3108951"/>
            <a:ext cx="3200400" cy="1539300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5669274" y="3108951"/>
            <a:ext cx="63900" cy="15393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5870448" y="3218688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00A896"/>
                </a:solidFill>
                <a:latin typeface="Trebuchet MS"/>
                <a:ea typeface="Trebuchet MS"/>
                <a:cs typeface="Trebuchet MS"/>
                <a:sym typeface="Trebuchet MS"/>
              </a:rPr>
              <a:t>Jaccard (IoU)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5806440" y="3630168"/>
            <a:ext cx="2999232" cy="475488"/>
          </a:xfrm>
          <a:prstGeom prst="rect">
            <a:avLst/>
          </a:prstGeom>
          <a:solidFill>
            <a:srgbClr val="00A896">
              <a:alpha val="14901"/>
            </a:srgbClr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5833872" y="3657600"/>
            <a:ext cx="29443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00A896"/>
                </a:solidFill>
                <a:latin typeface="Consolas"/>
                <a:ea typeface="Consolas"/>
                <a:cs typeface="Consolas"/>
                <a:sym typeface="Consolas"/>
              </a:rPr>
              <a:t>TP / (TP + FP + FN)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5870448" y="4141531"/>
            <a:ext cx="28713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950"/>
              <a:buFont typeface="Calibri"/>
              <a:buNone/>
            </a:pPr>
            <a:r>
              <a:rPr lang="en-US" sz="115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Más estricto, no duplica TP. Evalúa severidad de desvíos geométricos.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5669280" y="4730461"/>
            <a:ext cx="3200400" cy="292500"/>
          </a:xfrm>
          <a:prstGeom prst="rect">
            <a:avLst/>
          </a:prstGeom>
          <a:solidFill>
            <a:srgbClr val="22C55E">
              <a:alpha val="20000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5715000" y="4767037"/>
            <a:ext cx="3108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1" lang="en-US" sz="12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Umbral de éxito: Dice Score ≥ 0.7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320040" y="201168"/>
            <a:ext cx="1760220" cy="246888"/>
          </a:xfrm>
          <a:prstGeom prst="rect">
            <a:avLst/>
          </a:prstGeom>
          <a:solidFill>
            <a:srgbClr val="A78BFA">
              <a:alpha val="25098"/>
            </a:srgbClr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320040" y="237744"/>
            <a:ext cx="17602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03 · RESULTADOS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320040" y="502920"/>
            <a:ext cx="850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lang="en-US"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Preprocesamiento - Figura 1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5267950" y="1435550"/>
            <a:ext cx="3555900" cy="3078300"/>
          </a:xfrm>
          <a:prstGeom prst="rect">
            <a:avLst/>
          </a:prstGeom>
          <a:solidFill>
            <a:srgbClr val="141B2D"/>
          </a:solidFill>
          <a:ln cap="flat" cmpd="sng" w="14725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176906" rotWithShape="0" algn="bl" dir="8100000" dist="44226">
              <a:srgbClr val="000000">
                <a:alpha val="34901"/>
              </a:srgbClr>
            </a:outerShdw>
          </a:effectLst>
        </p:spPr>
        <p:txBody>
          <a:bodyPr anchorCtr="0" anchor="t" bIns="53050" lIns="106125" spcFirstLastPara="1" rIns="106125" wrap="square" tIns="53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5480236" y="1562922"/>
            <a:ext cx="31845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277"/>
              <a:buFont typeface="Trebuchet MS"/>
              <a:buNone/>
            </a:pPr>
            <a:r>
              <a:rPr b="1" lang="en-US" sz="1277">
                <a:solidFill>
                  <a:srgbClr val="A78BFA"/>
                </a:solidFill>
                <a:latin typeface="Trebuchet MS"/>
                <a:ea typeface="Trebuchet MS"/>
                <a:cs typeface="Trebuchet MS"/>
                <a:sym typeface="Trebuchet MS"/>
              </a:rPr>
              <a:t>Análisis GLCM</a:t>
            </a:r>
            <a:endParaRPr sz="127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5321022" y="2051183"/>
            <a:ext cx="1379700" cy="339600"/>
          </a:xfrm>
          <a:prstGeom prst="rect">
            <a:avLst/>
          </a:prstGeom>
          <a:solidFill>
            <a:srgbClr val="A78BFA">
              <a:alpha val="80000"/>
            </a:srgbClr>
          </a:solidFill>
          <a:ln cap="flat" cmpd="sng" w="14725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3050" lIns="106125" spcFirstLastPara="1" rIns="106125" wrap="square" tIns="53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5363479" y="2072412"/>
            <a:ext cx="12951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5"/>
              <a:buFont typeface="Calibri"/>
              <a:buNone/>
            </a:pPr>
            <a:r>
              <a:rPr b="1" lang="en-US" sz="104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Métrica</a:t>
            </a:r>
            <a:endParaRPr sz="104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6700884" y="2051183"/>
            <a:ext cx="743100" cy="339600"/>
          </a:xfrm>
          <a:prstGeom prst="rect">
            <a:avLst/>
          </a:prstGeom>
          <a:solidFill>
            <a:srgbClr val="A78BFA">
              <a:alpha val="80000"/>
            </a:srgbClr>
          </a:solidFill>
          <a:ln cap="flat" cmpd="sng" w="14725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3050" lIns="106125" spcFirstLastPara="1" rIns="106125" wrap="square" tIns="53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6743341" y="2072412"/>
            <a:ext cx="6582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5"/>
              <a:buFont typeface="Calibri"/>
              <a:buNone/>
            </a:pPr>
            <a:r>
              <a:rPr b="1" lang="en-US" sz="104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Antes</a:t>
            </a:r>
            <a:endParaRPr sz="104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7443886" y="2051183"/>
            <a:ext cx="764400" cy="339600"/>
          </a:xfrm>
          <a:prstGeom prst="rect">
            <a:avLst/>
          </a:prstGeom>
          <a:solidFill>
            <a:srgbClr val="A78BFA">
              <a:alpha val="80000"/>
            </a:srgbClr>
          </a:solidFill>
          <a:ln cap="flat" cmpd="sng" w="14725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3050" lIns="106125" spcFirstLastPara="1" rIns="106125" wrap="square" tIns="53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7486344" y="2072412"/>
            <a:ext cx="6795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5"/>
              <a:buFont typeface="Calibri"/>
              <a:buNone/>
            </a:pPr>
            <a:r>
              <a:rPr b="1" lang="en-US" sz="104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Después</a:t>
            </a:r>
            <a:endParaRPr sz="104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8208118" y="2051183"/>
            <a:ext cx="552000" cy="339600"/>
          </a:xfrm>
          <a:prstGeom prst="rect">
            <a:avLst/>
          </a:prstGeom>
          <a:solidFill>
            <a:srgbClr val="A78BFA">
              <a:alpha val="80000"/>
            </a:srgbClr>
          </a:solidFill>
          <a:ln cap="flat" cmpd="sng" w="14725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3050" lIns="106125" spcFirstLastPara="1" rIns="106125" wrap="square" tIns="53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8250575" y="2072412"/>
            <a:ext cx="466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5"/>
              <a:buFont typeface="Calibri"/>
              <a:buNone/>
            </a:pPr>
            <a:r>
              <a:rPr b="1" lang="en-US" sz="104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Δ</a:t>
            </a:r>
            <a:endParaRPr sz="104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5321022" y="2390843"/>
            <a:ext cx="1379700" cy="360600"/>
          </a:xfrm>
          <a:prstGeom prst="rect">
            <a:avLst/>
          </a:prstGeom>
          <a:solidFill>
            <a:srgbClr val="0F1629"/>
          </a:solidFill>
          <a:ln cap="flat" cmpd="sng" w="14725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3050" lIns="106125" spcFirstLastPara="1" rIns="106125" wrap="square" tIns="53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5352865" y="2433300"/>
            <a:ext cx="13164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987"/>
              <a:buFont typeface="Calibri"/>
              <a:buNone/>
            </a:pPr>
            <a:r>
              <a:rPr b="1" lang="en-US" sz="987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Contraste</a:t>
            </a:r>
            <a:endParaRPr sz="9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6700884" y="2390843"/>
            <a:ext cx="743100" cy="360600"/>
          </a:xfrm>
          <a:prstGeom prst="rect">
            <a:avLst/>
          </a:prstGeom>
          <a:solidFill>
            <a:srgbClr val="0F1629"/>
          </a:solidFill>
          <a:ln cap="flat" cmpd="sng" w="14725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3050" lIns="106125" spcFirstLastPara="1" rIns="106125" wrap="square" tIns="53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6732727" y="2433300"/>
            <a:ext cx="6795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045"/>
              <a:buFont typeface="Consolas"/>
              <a:buNone/>
            </a:pPr>
            <a:r>
              <a:rPr lang="en-US" sz="1045">
                <a:solidFill>
                  <a:srgbClr val="CDD5E0"/>
                </a:solidFill>
                <a:latin typeface="Consolas"/>
                <a:ea typeface="Consolas"/>
                <a:cs typeface="Consolas"/>
                <a:sym typeface="Consolas"/>
              </a:rPr>
              <a:t>115.41</a:t>
            </a:r>
            <a:endParaRPr sz="104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7443886" y="2390843"/>
            <a:ext cx="764400" cy="360600"/>
          </a:xfrm>
          <a:prstGeom prst="rect">
            <a:avLst/>
          </a:prstGeom>
          <a:solidFill>
            <a:srgbClr val="0F1629"/>
          </a:solidFill>
          <a:ln cap="flat" cmpd="sng" w="14725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3050" lIns="106125" spcFirstLastPara="1" rIns="106125" wrap="square" tIns="53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7475729" y="2433300"/>
            <a:ext cx="7005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045"/>
              <a:buFont typeface="Consolas"/>
              <a:buNone/>
            </a:pPr>
            <a:r>
              <a:rPr lang="en-US" sz="1045">
                <a:solidFill>
                  <a:srgbClr val="CDD5E0"/>
                </a:solidFill>
                <a:latin typeface="Consolas"/>
                <a:ea typeface="Consolas"/>
                <a:cs typeface="Consolas"/>
                <a:sym typeface="Consolas"/>
              </a:rPr>
              <a:t>228.03</a:t>
            </a:r>
            <a:endParaRPr sz="104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8208118" y="2390843"/>
            <a:ext cx="552000" cy="360600"/>
          </a:xfrm>
          <a:prstGeom prst="rect">
            <a:avLst/>
          </a:prstGeom>
          <a:solidFill>
            <a:srgbClr val="F5A623">
              <a:alpha val="20000"/>
            </a:srgbClr>
          </a:solidFill>
          <a:ln cap="flat" cmpd="sng" w="14725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3050" lIns="106125" spcFirstLastPara="1" rIns="106125" wrap="square" tIns="53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8239961" y="2433300"/>
            <a:ext cx="488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45"/>
              <a:buFont typeface="Consolas"/>
              <a:buNone/>
            </a:pPr>
            <a:r>
              <a:rPr b="1" lang="en-US" sz="1045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+97.6%</a:t>
            </a:r>
            <a:endParaRPr sz="104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5321022" y="2794189"/>
            <a:ext cx="1379700" cy="360600"/>
          </a:xfrm>
          <a:prstGeom prst="rect">
            <a:avLst/>
          </a:prstGeom>
          <a:solidFill>
            <a:srgbClr val="0F1629"/>
          </a:solidFill>
          <a:ln cap="flat" cmpd="sng" w="14725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3050" lIns="106125" spcFirstLastPara="1" rIns="106125" wrap="square" tIns="53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5352865" y="2836646"/>
            <a:ext cx="13164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987"/>
              <a:buFont typeface="Calibri"/>
              <a:buNone/>
            </a:pPr>
            <a:r>
              <a:rPr b="1" lang="en-US" sz="987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Homogeneidad</a:t>
            </a:r>
            <a:endParaRPr sz="9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6700884" y="2794189"/>
            <a:ext cx="743100" cy="360600"/>
          </a:xfrm>
          <a:prstGeom prst="rect">
            <a:avLst/>
          </a:prstGeom>
          <a:solidFill>
            <a:srgbClr val="0F1629"/>
          </a:solidFill>
          <a:ln cap="flat" cmpd="sng" w="14725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3050" lIns="106125" spcFirstLastPara="1" rIns="106125" wrap="square" tIns="53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6732727" y="2836646"/>
            <a:ext cx="6795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045"/>
              <a:buFont typeface="Consolas"/>
              <a:buNone/>
            </a:pPr>
            <a:r>
              <a:rPr lang="en-US" sz="1045">
                <a:solidFill>
                  <a:srgbClr val="CDD5E0"/>
                </a:solidFill>
                <a:latin typeface="Consolas"/>
                <a:ea typeface="Consolas"/>
                <a:cs typeface="Consolas"/>
                <a:sym typeface="Consolas"/>
              </a:rPr>
              <a:t>0.1872</a:t>
            </a:r>
            <a:endParaRPr sz="104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7443886" y="2794189"/>
            <a:ext cx="764400" cy="360600"/>
          </a:xfrm>
          <a:prstGeom prst="rect">
            <a:avLst/>
          </a:prstGeom>
          <a:solidFill>
            <a:srgbClr val="0F1629"/>
          </a:solidFill>
          <a:ln cap="flat" cmpd="sng" w="14725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3050" lIns="106125" spcFirstLastPara="1" rIns="106125" wrap="square" tIns="53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7475729" y="2836646"/>
            <a:ext cx="7005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045"/>
              <a:buFont typeface="Consolas"/>
              <a:buNone/>
            </a:pPr>
            <a:r>
              <a:rPr lang="en-US" sz="1045">
                <a:solidFill>
                  <a:srgbClr val="CDD5E0"/>
                </a:solidFill>
                <a:latin typeface="Consolas"/>
                <a:ea typeface="Consolas"/>
                <a:cs typeface="Consolas"/>
                <a:sym typeface="Consolas"/>
              </a:rPr>
              <a:t>0.2369</a:t>
            </a:r>
            <a:endParaRPr sz="104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8208118" y="2794189"/>
            <a:ext cx="552000" cy="360600"/>
          </a:xfrm>
          <a:prstGeom prst="rect">
            <a:avLst/>
          </a:prstGeom>
          <a:solidFill>
            <a:srgbClr val="00A896">
              <a:alpha val="20000"/>
            </a:srgbClr>
          </a:solidFill>
          <a:ln cap="flat" cmpd="sng" w="14725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3050" lIns="106125" spcFirstLastPara="1" rIns="106125" wrap="square" tIns="53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8239961" y="2836646"/>
            <a:ext cx="488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45"/>
              <a:buFont typeface="Consolas"/>
              <a:buNone/>
            </a:pPr>
            <a:r>
              <a:rPr b="1" lang="en-US" sz="1045">
                <a:solidFill>
                  <a:srgbClr val="00A896"/>
                </a:solidFill>
                <a:latin typeface="Consolas"/>
                <a:ea typeface="Consolas"/>
                <a:cs typeface="Consolas"/>
                <a:sym typeface="Consolas"/>
              </a:rPr>
              <a:t>+26.5%</a:t>
            </a:r>
            <a:endParaRPr sz="104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5321022" y="3197535"/>
            <a:ext cx="1379700" cy="360600"/>
          </a:xfrm>
          <a:prstGeom prst="rect">
            <a:avLst/>
          </a:prstGeom>
          <a:solidFill>
            <a:srgbClr val="0F1629"/>
          </a:solidFill>
          <a:ln cap="flat" cmpd="sng" w="14725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3050" lIns="106125" spcFirstLastPara="1" rIns="106125" wrap="square" tIns="53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5352865" y="3239992"/>
            <a:ext cx="13164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987"/>
              <a:buFont typeface="Calibri"/>
              <a:buNone/>
            </a:pPr>
            <a:r>
              <a:rPr b="1" lang="en-US" sz="987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Energía</a:t>
            </a:r>
            <a:endParaRPr sz="9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6700884" y="3197535"/>
            <a:ext cx="743100" cy="360600"/>
          </a:xfrm>
          <a:prstGeom prst="rect">
            <a:avLst/>
          </a:prstGeom>
          <a:solidFill>
            <a:srgbClr val="0F1629"/>
          </a:solidFill>
          <a:ln cap="flat" cmpd="sng" w="14725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3050" lIns="106125" spcFirstLastPara="1" rIns="106125" wrap="square" tIns="53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6732727" y="3239992"/>
            <a:ext cx="6795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045"/>
              <a:buFont typeface="Consolas"/>
              <a:buNone/>
            </a:pPr>
            <a:r>
              <a:rPr lang="en-US" sz="1045">
                <a:solidFill>
                  <a:srgbClr val="CDD5E0"/>
                </a:solidFill>
                <a:latin typeface="Consolas"/>
                <a:ea typeface="Consolas"/>
                <a:cs typeface="Consolas"/>
                <a:sym typeface="Consolas"/>
              </a:rPr>
              <a:t>0.0239</a:t>
            </a:r>
            <a:endParaRPr sz="104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7443886" y="3197535"/>
            <a:ext cx="764400" cy="360600"/>
          </a:xfrm>
          <a:prstGeom prst="rect">
            <a:avLst/>
          </a:prstGeom>
          <a:solidFill>
            <a:srgbClr val="0F1629"/>
          </a:solidFill>
          <a:ln cap="flat" cmpd="sng" w="14725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3050" lIns="106125" spcFirstLastPara="1" rIns="106125" wrap="square" tIns="53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7475729" y="3239992"/>
            <a:ext cx="7005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045"/>
              <a:buFont typeface="Consolas"/>
              <a:buNone/>
            </a:pPr>
            <a:r>
              <a:rPr lang="en-US" sz="1045">
                <a:solidFill>
                  <a:srgbClr val="CDD5E0"/>
                </a:solidFill>
                <a:latin typeface="Consolas"/>
                <a:ea typeface="Consolas"/>
                <a:cs typeface="Consolas"/>
                <a:sym typeface="Consolas"/>
              </a:rPr>
              <a:t>0.0194</a:t>
            </a:r>
            <a:endParaRPr sz="104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8208118" y="3197535"/>
            <a:ext cx="552000" cy="360600"/>
          </a:xfrm>
          <a:prstGeom prst="rect">
            <a:avLst/>
          </a:prstGeom>
          <a:solidFill>
            <a:srgbClr val="00C8E0">
              <a:alpha val="20000"/>
            </a:srgbClr>
          </a:solidFill>
          <a:ln cap="flat" cmpd="sng" w="14725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3050" lIns="106125" spcFirstLastPara="1" rIns="106125" wrap="square" tIns="53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8239961" y="3239992"/>
            <a:ext cx="488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045"/>
              <a:buFont typeface="Consolas"/>
              <a:buNone/>
            </a:pPr>
            <a:r>
              <a:rPr b="1" lang="en-US" sz="1045">
                <a:solidFill>
                  <a:srgbClr val="00C8E0"/>
                </a:solidFill>
                <a:latin typeface="Consolas"/>
                <a:ea typeface="Consolas"/>
                <a:cs typeface="Consolas"/>
                <a:sym typeface="Consolas"/>
              </a:rPr>
              <a:t>−18.8%</a:t>
            </a:r>
            <a:endParaRPr sz="104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5327889" y="3643338"/>
            <a:ext cx="3439200" cy="764400"/>
          </a:xfrm>
          <a:prstGeom prst="rect">
            <a:avLst/>
          </a:prstGeom>
          <a:solidFill>
            <a:srgbClr val="F5A623">
              <a:alpha val="12156"/>
            </a:srgbClr>
          </a:solidFill>
          <a:ln cap="flat" cmpd="sng" w="14725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3050" lIns="106125" spcFirstLastPara="1" rIns="106125" wrap="square" tIns="53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3" name="Google Shape;273;p7"/>
          <p:cNvPicPr preferRelativeResize="0"/>
          <p:nvPr/>
        </p:nvPicPr>
        <p:blipFill rotWithShape="1">
          <a:blip r:embed="rId3">
            <a:alphaModFix/>
          </a:blip>
          <a:srcRect b="40904" l="979" r="49304" t="9890"/>
          <a:stretch/>
        </p:blipFill>
        <p:spPr>
          <a:xfrm>
            <a:off x="840675" y="1086088"/>
            <a:ext cx="3911749" cy="19357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4" name="Google Shape;274;p7"/>
          <p:cNvPicPr preferRelativeResize="0"/>
          <p:nvPr/>
        </p:nvPicPr>
        <p:blipFill rotWithShape="1">
          <a:blip r:embed="rId3">
            <a:alphaModFix/>
          </a:blip>
          <a:srcRect b="42840" l="50622" r="0" t="10285"/>
          <a:stretch/>
        </p:blipFill>
        <p:spPr>
          <a:xfrm>
            <a:off x="840675" y="3082525"/>
            <a:ext cx="3911749" cy="185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7"/>
          <p:cNvSpPr/>
          <p:nvPr/>
        </p:nvSpPr>
        <p:spPr>
          <a:xfrm>
            <a:off x="5434037" y="3685797"/>
            <a:ext cx="3184500" cy="6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03"/>
              <a:buFont typeface="Calibri"/>
              <a:buNone/>
            </a:pPr>
            <a:r>
              <a:rPr lang="en-US" sz="1103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CLAHE incrementó el contraste casi 2× sin alterar </a:t>
            </a:r>
            <a:r>
              <a:rPr lang="en-US" sz="1103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morfología interna obteniendo </a:t>
            </a:r>
            <a:r>
              <a:rPr lang="en-US" sz="1103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bordes tumorales más definidos.</a:t>
            </a:r>
            <a:endParaRPr sz="110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320040" y="201168"/>
            <a:ext cx="1760220" cy="246888"/>
          </a:xfrm>
          <a:prstGeom prst="rect">
            <a:avLst/>
          </a:prstGeom>
          <a:solidFill>
            <a:srgbClr val="A78BFA">
              <a:alpha val="25098"/>
            </a:srgbClr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320040" y="237744"/>
            <a:ext cx="17602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03 · RESULTADOS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320040" y="502920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lang="en-US"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Preprocesamiento - Figura 2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5" name="Google Shape;285;p8"/>
          <p:cNvPicPr preferRelativeResize="0"/>
          <p:nvPr/>
        </p:nvPicPr>
        <p:blipFill rotWithShape="1">
          <a:blip r:embed="rId3">
            <a:alphaModFix/>
          </a:blip>
          <a:srcRect b="42757" l="1357" r="49655" t="10028"/>
          <a:stretch/>
        </p:blipFill>
        <p:spPr>
          <a:xfrm>
            <a:off x="840675" y="1191915"/>
            <a:ext cx="3922999" cy="1890611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8"/>
          <p:cNvSpPr/>
          <p:nvPr/>
        </p:nvSpPr>
        <p:spPr>
          <a:xfrm>
            <a:off x="5045851" y="1323798"/>
            <a:ext cx="3666600" cy="3174000"/>
          </a:xfrm>
          <a:prstGeom prst="rect">
            <a:avLst/>
          </a:prstGeom>
          <a:solidFill>
            <a:srgbClr val="141B2D"/>
          </a:solidFill>
          <a:ln cap="flat" cmpd="sng" w="152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182419" rotWithShape="0" algn="bl" dir="8100000" dist="45605">
              <a:srgbClr val="000000">
                <a:alpha val="34901"/>
              </a:srgbClr>
            </a:outerShdw>
          </a:effectLst>
        </p:spPr>
        <p:txBody>
          <a:bodyPr anchorCtr="0" anchor="t" bIns="54700" lIns="109425" spcFirstLastPara="1" rIns="109425" wrap="square" tIns="54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5264754" y="1455140"/>
            <a:ext cx="32835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317"/>
              <a:buFont typeface="Trebuchet MS"/>
              <a:buNone/>
            </a:pPr>
            <a:r>
              <a:rPr b="1" lang="en-US" sz="1317">
                <a:solidFill>
                  <a:srgbClr val="A78BFA"/>
                </a:solidFill>
                <a:latin typeface="Trebuchet MS"/>
                <a:ea typeface="Trebuchet MS"/>
                <a:cs typeface="Trebuchet MS"/>
                <a:sym typeface="Trebuchet MS"/>
              </a:rPr>
              <a:t>Análisis GLCM</a:t>
            </a:r>
            <a:endParaRPr sz="131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5100577" y="1958617"/>
            <a:ext cx="1422600" cy="350100"/>
          </a:xfrm>
          <a:prstGeom prst="rect">
            <a:avLst/>
          </a:prstGeom>
          <a:solidFill>
            <a:srgbClr val="A78BFA">
              <a:alpha val="80000"/>
            </a:srgbClr>
          </a:solidFill>
          <a:ln cap="flat" cmpd="sng" w="152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700" lIns="109425" spcFirstLastPara="1" rIns="109425" wrap="square" tIns="54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5144357" y="1980508"/>
            <a:ext cx="13356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7"/>
              <a:buFont typeface="Calibri"/>
              <a:buNone/>
            </a:pPr>
            <a:r>
              <a:rPr b="1" lang="en-US" sz="107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Métrica</a:t>
            </a:r>
            <a:endParaRPr sz="107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6523447" y="1958617"/>
            <a:ext cx="766200" cy="350100"/>
          </a:xfrm>
          <a:prstGeom prst="rect">
            <a:avLst/>
          </a:prstGeom>
          <a:solidFill>
            <a:srgbClr val="A78BFA">
              <a:alpha val="80000"/>
            </a:srgbClr>
          </a:solidFill>
          <a:ln cap="flat" cmpd="sng" w="152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700" lIns="109425" spcFirstLastPara="1" rIns="109425" wrap="square" tIns="54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6567228" y="1980508"/>
            <a:ext cx="6786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7"/>
              <a:buFont typeface="Calibri"/>
              <a:buNone/>
            </a:pPr>
            <a:r>
              <a:rPr b="1" lang="en-US" sz="107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Antes</a:t>
            </a:r>
            <a:endParaRPr sz="107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7289608" y="1958617"/>
            <a:ext cx="788100" cy="350100"/>
          </a:xfrm>
          <a:prstGeom prst="rect">
            <a:avLst/>
          </a:prstGeom>
          <a:solidFill>
            <a:srgbClr val="A78BFA">
              <a:alpha val="80000"/>
            </a:srgbClr>
          </a:solidFill>
          <a:ln cap="flat" cmpd="sng" w="152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700" lIns="109425" spcFirstLastPara="1" rIns="109425" wrap="square" tIns="54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7333389" y="1980508"/>
            <a:ext cx="7005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7"/>
              <a:buFont typeface="Calibri"/>
              <a:buNone/>
            </a:pPr>
            <a:r>
              <a:rPr b="1" lang="en-US" sz="107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Después</a:t>
            </a:r>
            <a:endParaRPr sz="107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8077660" y="1958617"/>
            <a:ext cx="569100" cy="350100"/>
          </a:xfrm>
          <a:prstGeom prst="rect">
            <a:avLst/>
          </a:prstGeom>
          <a:solidFill>
            <a:srgbClr val="A78BFA">
              <a:alpha val="80000"/>
            </a:srgbClr>
          </a:solidFill>
          <a:ln cap="flat" cmpd="sng" w="152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700" lIns="109425" spcFirstLastPara="1" rIns="109425" wrap="square" tIns="54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8121441" y="1980508"/>
            <a:ext cx="4815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7"/>
              <a:buFont typeface="Calibri"/>
              <a:buNone/>
            </a:pPr>
            <a:r>
              <a:rPr b="1" lang="en-US" sz="107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Δ</a:t>
            </a:r>
            <a:endParaRPr sz="107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5100577" y="2308862"/>
            <a:ext cx="1422600" cy="372000"/>
          </a:xfrm>
          <a:prstGeom prst="rect">
            <a:avLst/>
          </a:prstGeom>
          <a:solidFill>
            <a:srgbClr val="0F1629"/>
          </a:solidFill>
          <a:ln cap="flat" cmpd="sng" w="152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700" lIns="109425" spcFirstLastPara="1" rIns="109425" wrap="square" tIns="54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5133412" y="2352643"/>
            <a:ext cx="13575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017"/>
              <a:buFont typeface="Calibri"/>
              <a:buNone/>
            </a:pPr>
            <a:r>
              <a:rPr b="1" lang="en-US" sz="1017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Contraste</a:t>
            </a:r>
            <a:endParaRPr sz="101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6523447" y="2308862"/>
            <a:ext cx="766200" cy="372000"/>
          </a:xfrm>
          <a:prstGeom prst="rect">
            <a:avLst/>
          </a:prstGeom>
          <a:solidFill>
            <a:srgbClr val="0F1629"/>
          </a:solidFill>
          <a:ln cap="flat" cmpd="sng" w="152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700" lIns="109425" spcFirstLastPara="1" rIns="109425" wrap="square" tIns="54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6556283" y="2352643"/>
            <a:ext cx="7005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077"/>
              <a:buFont typeface="Consolas"/>
              <a:buNone/>
            </a:pPr>
            <a:r>
              <a:rPr lang="en-US" sz="1077">
                <a:solidFill>
                  <a:srgbClr val="CDD5E0"/>
                </a:solidFill>
                <a:latin typeface="Consolas"/>
                <a:ea typeface="Consolas"/>
                <a:cs typeface="Consolas"/>
                <a:sym typeface="Consolas"/>
              </a:rPr>
              <a:t>72.18</a:t>
            </a:r>
            <a:endParaRPr sz="107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7289608" y="2308862"/>
            <a:ext cx="788100" cy="372000"/>
          </a:xfrm>
          <a:prstGeom prst="rect">
            <a:avLst/>
          </a:prstGeom>
          <a:solidFill>
            <a:srgbClr val="0F1629"/>
          </a:solidFill>
          <a:ln cap="flat" cmpd="sng" w="152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700" lIns="109425" spcFirstLastPara="1" rIns="109425" wrap="square" tIns="54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7322444" y="2352643"/>
            <a:ext cx="7224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077"/>
              <a:buFont typeface="Consolas"/>
              <a:buNone/>
            </a:pPr>
            <a:r>
              <a:rPr lang="en-US" sz="1077">
                <a:solidFill>
                  <a:srgbClr val="CDD5E0"/>
                </a:solidFill>
                <a:latin typeface="Consolas"/>
                <a:ea typeface="Consolas"/>
                <a:cs typeface="Consolas"/>
                <a:sym typeface="Consolas"/>
              </a:rPr>
              <a:t>191.24</a:t>
            </a:r>
            <a:endParaRPr sz="107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8077660" y="2308862"/>
            <a:ext cx="569100" cy="372000"/>
          </a:xfrm>
          <a:prstGeom prst="rect">
            <a:avLst/>
          </a:prstGeom>
          <a:solidFill>
            <a:srgbClr val="F5A623">
              <a:alpha val="20000"/>
            </a:srgbClr>
          </a:solidFill>
          <a:ln cap="flat" cmpd="sng" w="152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700" lIns="109425" spcFirstLastPara="1" rIns="109425" wrap="square" tIns="54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8110495" y="2352643"/>
            <a:ext cx="5034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77"/>
              <a:buFont typeface="Consolas"/>
              <a:buNone/>
            </a:pPr>
            <a:r>
              <a:rPr b="1" lang="en-US" sz="1077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+165%</a:t>
            </a:r>
            <a:endParaRPr sz="107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5100577" y="2724778"/>
            <a:ext cx="1422600" cy="372000"/>
          </a:xfrm>
          <a:prstGeom prst="rect">
            <a:avLst/>
          </a:prstGeom>
          <a:solidFill>
            <a:srgbClr val="0F1629"/>
          </a:solidFill>
          <a:ln cap="flat" cmpd="sng" w="152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700" lIns="109425" spcFirstLastPara="1" rIns="109425" wrap="square" tIns="54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5133412" y="2768559"/>
            <a:ext cx="13575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017"/>
              <a:buFont typeface="Calibri"/>
              <a:buNone/>
            </a:pPr>
            <a:r>
              <a:rPr b="1" lang="en-US" sz="1017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Homogeneidad</a:t>
            </a:r>
            <a:endParaRPr sz="101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6523447" y="2724778"/>
            <a:ext cx="766200" cy="372000"/>
          </a:xfrm>
          <a:prstGeom prst="rect">
            <a:avLst/>
          </a:prstGeom>
          <a:solidFill>
            <a:srgbClr val="0F1629"/>
          </a:solidFill>
          <a:ln cap="flat" cmpd="sng" w="152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700" lIns="109425" spcFirstLastPara="1" rIns="109425" wrap="square" tIns="54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6556283" y="2768559"/>
            <a:ext cx="7005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077"/>
              <a:buFont typeface="Consolas"/>
              <a:buNone/>
            </a:pPr>
            <a:r>
              <a:rPr lang="en-US" sz="1077">
                <a:solidFill>
                  <a:srgbClr val="CDD5E0"/>
                </a:solidFill>
                <a:latin typeface="Consolas"/>
                <a:ea typeface="Consolas"/>
                <a:cs typeface="Consolas"/>
                <a:sym typeface="Consolas"/>
              </a:rPr>
              <a:t>0.1790</a:t>
            </a:r>
            <a:endParaRPr sz="107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7289608" y="2724778"/>
            <a:ext cx="788100" cy="372000"/>
          </a:xfrm>
          <a:prstGeom prst="rect">
            <a:avLst/>
          </a:prstGeom>
          <a:solidFill>
            <a:srgbClr val="0F1629"/>
          </a:solidFill>
          <a:ln cap="flat" cmpd="sng" w="152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700" lIns="109425" spcFirstLastPara="1" rIns="109425" wrap="square" tIns="54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7322444" y="2768559"/>
            <a:ext cx="7224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077"/>
              <a:buFont typeface="Consolas"/>
              <a:buNone/>
            </a:pPr>
            <a:r>
              <a:rPr lang="en-US" sz="1077">
                <a:solidFill>
                  <a:srgbClr val="CDD5E0"/>
                </a:solidFill>
                <a:latin typeface="Consolas"/>
                <a:ea typeface="Consolas"/>
                <a:cs typeface="Consolas"/>
                <a:sym typeface="Consolas"/>
              </a:rPr>
              <a:t>0.2007</a:t>
            </a:r>
            <a:endParaRPr sz="107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8077660" y="2724778"/>
            <a:ext cx="569100" cy="372000"/>
          </a:xfrm>
          <a:prstGeom prst="rect">
            <a:avLst/>
          </a:prstGeom>
          <a:solidFill>
            <a:srgbClr val="00A896">
              <a:alpha val="20000"/>
            </a:srgbClr>
          </a:solidFill>
          <a:ln cap="flat" cmpd="sng" w="152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700" lIns="109425" spcFirstLastPara="1" rIns="109425" wrap="square" tIns="54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8110495" y="2768559"/>
            <a:ext cx="5034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77"/>
              <a:buFont typeface="Consolas"/>
              <a:buNone/>
            </a:pPr>
            <a:r>
              <a:rPr b="1" lang="en-US" sz="1077">
                <a:solidFill>
                  <a:srgbClr val="00A896"/>
                </a:solidFill>
                <a:latin typeface="Consolas"/>
                <a:ea typeface="Consolas"/>
                <a:cs typeface="Consolas"/>
                <a:sym typeface="Consolas"/>
              </a:rPr>
              <a:t>+12.1%</a:t>
            </a:r>
            <a:endParaRPr sz="107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5100577" y="3140694"/>
            <a:ext cx="1422600" cy="372000"/>
          </a:xfrm>
          <a:prstGeom prst="rect">
            <a:avLst/>
          </a:prstGeom>
          <a:solidFill>
            <a:srgbClr val="0F1629"/>
          </a:solidFill>
          <a:ln cap="flat" cmpd="sng" w="152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700" lIns="109425" spcFirstLastPara="1" rIns="109425" wrap="square" tIns="54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5133412" y="3184475"/>
            <a:ext cx="13575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017"/>
              <a:buFont typeface="Calibri"/>
              <a:buNone/>
            </a:pPr>
            <a:r>
              <a:rPr b="1" lang="en-US" sz="1017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Energía</a:t>
            </a:r>
            <a:endParaRPr sz="101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6523447" y="3140694"/>
            <a:ext cx="766200" cy="372000"/>
          </a:xfrm>
          <a:prstGeom prst="rect">
            <a:avLst/>
          </a:prstGeom>
          <a:solidFill>
            <a:srgbClr val="0F1629"/>
          </a:solidFill>
          <a:ln cap="flat" cmpd="sng" w="152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700" lIns="109425" spcFirstLastPara="1" rIns="109425" wrap="square" tIns="54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6556283" y="3184475"/>
            <a:ext cx="7005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077"/>
              <a:buFont typeface="Consolas"/>
              <a:buNone/>
            </a:pPr>
            <a:r>
              <a:rPr lang="en-US" sz="1077">
                <a:solidFill>
                  <a:srgbClr val="CDD5E0"/>
                </a:solidFill>
                <a:latin typeface="Consolas"/>
                <a:ea typeface="Consolas"/>
                <a:cs typeface="Consolas"/>
                <a:sym typeface="Consolas"/>
              </a:rPr>
              <a:t>0.0350</a:t>
            </a:r>
            <a:endParaRPr sz="107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7289608" y="3140694"/>
            <a:ext cx="788100" cy="372000"/>
          </a:xfrm>
          <a:prstGeom prst="rect">
            <a:avLst/>
          </a:prstGeom>
          <a:solidFill>
            <a:srgbClr val="0F1629"/>
          </a:solidFill>
          <a:ln cap="flat" cmpd="sng" w="152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700" lIns="109425" spcFirstLastPara="1" rIns="109425" wrap="square" tIns="54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7322444" y="3184475"/>
            <a:ext cx="7224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077"/>
              <a:buFont typeface="Consolas"/>
              <a:buNone/>
            </a:pPr>
            <a:r>
              <a:rPr lang="en-US" sz="1077">
                <a:solidFill>
                  <a:srgbClr val="CDD5E0"/>
                </a:solidFill>
                <a:latin typeface="Consolas"/>
                <a:ea typeface="Consolas"/>
                <a:cs typeface="Consolas"/>
                <a:sym typeface="Consolas"/>
              </a:rPr>
              <a:t>0.0297</a:t>
            </a:r>
            <a:endParaRPr sz="107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8077660" y="3140694"/>
            <a:ext cx="569100" cy="372000"/>
          </a:xfrm>
          <a:prstGeom prst="rect">
            <a:avLst/>
          </a:prstGeom>
          <a:solidFill>
            <a:srgbClr val="00C8E0">
              <a:alpha val="20000"/>
            </a:srgbClr>
          </a:solidFill>
          <a:ln cap="flat" cmpd="sng" w="152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700" lIns="109425" spcFirstLastPara="1" rIns="109425" wrap="square" tIns="54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8110495" y="3184475"/>
            <a:ext cx="5034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077"/>
              <a:buFont typeface="Consolas"/>
              <a:buNone/>
            </a:pPr>
            <a:r>
              <a:rPr b="1" lang="en-US" sz="1077">
                <a:solidFill>
                  <a:srgbClr val="00C8E0"/>
                </a:solidFill>
                <a:latin typeface="Consolas"/>
                <a:ea typeface="Consolas"/>
                <a:cs typeface="Consolas"/>
                <a:sym typeface="Consolas"/>
              </a:rPr>
              <a:t>−15.1%</a:t>
            </a:r>
            <a:endParaRPr sz="107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5100577" y="3600391"/>
            <a:ext cx="3546300" cy="788100"/>
          </a:xfrm>
          <a:prstGeom prst="rect">
            <a:avLst/>
          </a:prstGeom>
          <a:solidFill>
            <a:srgbClr val="F5A623">
              <a:alpha val="12156"/>
            </a:srgbClr>
          </a:solidFill>
          <a:ln cap="flat" cmpd="sng" w="152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700" lIns="109425" spcFirstLastPara="1" rIns="109425" wrap="square" tIns="54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5210028" y="3644172"/>
            <a:ext cx="33930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37"/>
              <a:buFont typeface="Calibri"/>
              <a:buNone/>
            </a:pPr>
            <a:r>
              <a:rPr lang="en-US" sz="1137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El mayor incremento de contraste (+165%) en este tumor demuestra la efectividad del CLAHE en casos de lesiones pequeñas.</a:t>
            </a:r>
            <a:endParaRPr sz="113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2" name="Google Shape;322;p8"/>
          <p:cNvPicPr preferRelativeResize="0"/>
          <p:nvPr/>
        </p:nvPicPr>
        <p:blipFill rotWithShape="1">
          <a:blip r:embed="rId3">
            <a:alphaModFix/>
          </a:blip>
          <a:srcRect b="42757" l="50122" r="0" t="10028"/>
          <a:stretch/>
        </p:blipFill>
        <p:spPr>
          <a:xfrm>
            <a:off x="840675" y="3082525"/>
            <a:ext cx="3922999" cy="185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9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320040" y="201168"/>
            <a:ext cx="1760220" cy="246888"/>
          </a:xfrm>
          <a:prstGeom prst="rect">
            <a:avLst/>
          </a:prstGeom>
          <a:solidFill>
            <a:srgbClr val="00C8E0">
              <a:alpha val="25098"/>
            </a:srgbClr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320040" y="237744"/>
            <a:ext cx="17602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00C8E0"/>
                </a:solidFill>
                <a:latin typeface="Consolas"/>
                <a:ea typeface="Consolas"/>
                <a:cs typeface="Consolas"/>
                <a:sym typeface="Consolas"/>
              </a:rPr>
              <a:t>03 · RESULTADOS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320040" y="502920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lang="en-US"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Distribuciones de Dice Score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274325" y="1051550"/>
            <a:ext cx="4160400" cy="3538200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274325" y="1051550"/>
            <a:ext cx="63900" cy="3538200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457200" y="1037744"/>
            <a:ext cx="3794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00C8E0"/>
                </a:solidFill>
                <a:latin typeface="Trebuchet MS"/>
                <a:ea typeface="Trebuchet MS"/>
                <a:cs typeface="Trebuchet MS"/>
                <a:sym typeface="Trebuchet MS"/>
              </a:rPr>
              <a:t>Ejecución 1, 10 imágenes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347472" y="4646827"/>
            <a:ext cx="1874400" cy="237600"/>
          </a:xfrm>
          <a:prstGeom prst="rect">
            <a:avLst/>
          </a:prstGeom>
          <a:solidFill>
            <a:srgbClr val="00C8E0">
              <a:alpha val="21960"/>
            </a:srgbClr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384048" y="4684726"/>
            <a:ext cx="1801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850"/>
              <a:buFont typeface="Consolas"/>
              <a:buNone/>
            </a:pPr>
            <a:r>
              <a:rPr b="1" lang="en-US" sz="850">
                <a:solidFill>
                  <a:srgbClr val="00C8E0"/>
                </a:solidFill>
                <a:latin typeface="Consolas"/>
                <a:ea typeface="Consolas"/>
                <a:cs typeface="Consolas"/>
                <a:sym typeface="Consolas"/>
              </a:rPr>
              <a:t>Pipeline: 8/10 (80%)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2331720" y="4646827"/>
            <a:ext cx="1993500" cy="237600"/>
          </a:xfrm>
          <a:prstGeom prst="rect">
            <a:avLst/>
          </a:prstGeom>
          <a:solidFill>
            <a:srgbClr val="FF4D6D">
              <a:alpha val="21960"/>
            </a:srgbClr>
          </a:solidFill>
          <a:ln cap="flat" cmpd="sng" w="12700">
            <a:solidFill>
              <a:srgbClr val="FF4D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2368296" y="4674259"/>
            <a:ext cx="192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D6D"/>
              </a:buClr>
              <a:buSzPts val="850"/>
              <a:buFont typeface="Consolas"/>
              <a:buNone/>
            </a:pPr>
            <a:r>
              <a:rPr b="1" lang="en-US" sz="850">
                <a:solidFill>
                  <a:srgbClr val="FF4D6D"/>
                </a:solidFill>
                <a:latin typeface="Consolas"/>
                <a:ea typeface="Consolas"/>
                <a:cs typeface="Consolas"/>
                <a:sym typeface="Consolas"/>
              </a:rPr>
              <a:t>Multi-Otsu: 7/10 (70%)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4663450" y="1051401"/>
            <a:ext cx="4160400" cy="3538200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4663460" y="1037750"/>
            <a:ext cx="63900" cy="35520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4846304" y="1051542"/>
            <a:ext cx="37947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00A896"/>
                </a:solidFill>
                <a:latin typeface="Trebuchet MS"/>
                <a:ea typeface="Trebuchet MS"/>
                <a:cs typeface="Trebuchet MS"/>
                <a:sym typeface="Trebuchet MS"/>
              </a:rPr>
              <a:t>Ejecución 2, 7 imágenes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4736592" y="4646827"/>
            <a:ext cx="1874400" cy="237600"/>
          </a:xfrm>
          <a:prstGeom prst="rect">
            <a:avLst/>
          </a:prstGeom>
          <a:solidFill>
            <a:srgbClr val="00C8E0">
              <a:alpha val="21960"/>
            </a:srgbClr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4773168" y="4674259"/>
            <a:ext cx="1801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850"/>
              <a:buFont typeface="Consolas"/>
              <a:buNone/>
            </a:pPr>
            <a:r>
              <a:rPr b="1" lang="en-US" sz="850">
                <a:solidFill>
                  <a:srgbClr val="00C8E0"/>
                </a:solidFill>
                <a:latin typeface="Consolas"/>
                <a:ea typeface="Consolas"/>
                <a:cs typeface="Consolas"/>
                <a:sym typeface="Consolas"/>
              </a:rPr>
              <a:t>Pipeline: 5/7 (71.4%)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6720840" y="4646827"/>
            <a:ext cx="1993500" cy="237600"/>
          </a:xfrm>
          <a:prstGeom prst="rect">
            <a:avLst/>
          </a:prstGeom>
          <a:solidFill>
            <a:srgbClr val="FF4D6D">
              <a:alpha val="21960"/>
            </a:srgbClr>
          </a:solidFill>
          <a:ln cap="flat" cmpd="sng" w="12700">
            <a:solidFill>
              <a:srgbClr val="FF4D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6757416" y="4674259"/>
            <a:ext cx="192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D6D"/>
              </a:buClr>
              <a:buSzPts val="850"/>
              <a:buFont typeface="Consolas"/>
              <a:buNone/>
            </a:pPr>
            <a:r>
              <a:rPr b="1" lang="en-US" sz="850">
                <a:solidFill>
                  <a:srgbClr val="FF4D6D"/>
                </a:solidFill>
                <a:latin typeface="Consolas"/>
                <a:ea typeface="Consolas"/>
                <a:cs typeface="Consolas"/>
                <a:sym typeface="Consolas"/>
              </a:rPr>
              <a:t>Multi-Otsu: 5/7 (71.4%)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6" name="Google Shape;346;p9"/>
          <p:cNvPicPr preferRelativeResize="0"/>
          <p:nvPr/>
        </p:nvPicPr>
        <p:blipFill rotWithShape="1">
          <a:blip r:embed="rId3">
            <a:alphaModFix/>
          </a:blip>
          <a:srcRect b="0" l="50507" r="0" t="9950"/>
          <a:stretch/>
        </p:blipFill>
        <p:spPr>
          <a:xfrm>
            <a:off x="848775" y="2982463"/>
            <a:ext cx="2838000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9"/>
          <p:cNvPicPr preferRelativeResize="0"/>
          <p:nvPr/>
        </p:nvPicPr>
        <p:blipFill rotWithShape="1">
          <a:blip r:embed="rId3">
            <a:alphaModFix/>
          </a:blip>
          <a:srcRect b="0" l="0" r="49594" t="9950"/>
          <a:stretch/>
        </p:blipFill>
        <p:spPr>
          <a:xfrm>
            <a:off x="848775" y="1417325"/>
            <a:ext cx="2838000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9"/>
          <p:cNvPicPr preferRelativeResize="0"/>
          <p:nvPr/>
        </p:nvPicPr>
        <p:blipFill rotWithShape="1">
          <a:blip r:embed="rId4">
            <a:alphaModFix/>
          </a:blip>
          <a:srcRect b="0" l="0" r="49416" t="0"/>
          <a:stretch/>
        </p:blipFill>
        <p:spPr>
          <a:xfrm>
            <a:off x="5324650" y="1417325"/>
            <a:ext cx="2838000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9"/>
          <p:cNvPicPr preferRelativeResize="0"/>
          <p:nvPr/>
        </p:nvPicPr>
        <p:blipFill rotWithShape="1">
          <a:blip r:embed="rId4">
            <a:alphaModFix/>
          </a:blip>
          <a:srcRect b="0" l="50507" r="0" t="0"/>
          <a:stretch/>
        </p:blipFill>
        <p:spPr>
          <a:xfrm>
            <a:off x="5324650" y="2985025"/>
            <a:ext cx="2838000" cy="15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320040" y="201168"/>
            <a:ext cx="1760220" cy="246888"/>
          </a:xfrm>
          <a:prstGeom prst="rect">
            <a:avLst/>
          </a:prstGeom>
          <a:solidFill>
            <a:srgbClr val="00A896">
              <a:alpha val="25098"/>
            </a:srgbClr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320040" y="237744"/>
            <a:ext cx="17602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00A896"/>
                </a:solidFill>
                <a:latin typeface="Consolas"/>
                <a:ea typeface="Consolas"/>
                <a:cs typeface="Consolas"/>
                <a:sym typeface="Consolas"/>
              </a:rPr>
              <a:t>03 · RESULTADOS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320040" y="502920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lang="en-US"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Segmentación - Region Growing Guiado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9" name="Google Shape;35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88720"/>
            <a:ext cx="548640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1"/>
          <p:cNvSpPr/>
          <p:nvPr/>
        </p:nvSpPr>
        <p:spPr>
          <a:xfrm>
            <a:off x="5943600" y="1188720"/>
            <a:ext cx="2880300" cy="3474600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5943600" y="1188720"/>
            <a:ext cx="64008" cy="347472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6103650" y="1364726"/>
            <a:ext cx="2560200" cy="8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100"/>
              <a:buFont typeface="Calibri"/>
              <a:buNone/>
            </a:pPr>
            <a:r>
              <a:rPr b="1" lang="en-US" sz="16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Region Growing Guiado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1100"/>
              <a:buFont typeface="Calibri"/>
              <a:buNone/>
            </a:pPr>
            <a:r>
              <a:rPr lang="en-US" sz="16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Tolerancia = 15</a:t>
            </a:r>
            <a:br>
              <a:rPr lang="en-US" sz="11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5989320" y="2044555"/>
            <a:ext cx="2788800" cy="292500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6053328" y="2071987"/>
            <a:ext cx="141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alibri"/>
              <a:buNone/>
            </a:pPr>
            <a:r>
              <a:rPr lang="en-US" sz="13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Dice Score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7498080" y="2071987"/>
            <a:ext cx="118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50"/>
              <a:buFont typeface="Consolas"/>
              <a:buNone/>
            </a:pPr>
            <a:r>
              <a:rPr b="1" lang="en-US" sz="1350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0.7427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5989320" y="2382883"/>
            <a:ext cx="2788800" cy="292500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6053328" y="2410315"/>
            <a:ext cx="141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alibri"/>
              <a:buNone/>
            </a:pPr>
            <a:r>
              <a:rPr lang="en-US" sz="13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IoU (Jaccard)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7498080" y="2410315"/>
            <a:ext cx="118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50"/>
              <a:buFont typeface="Consolas"/>
              <a:buNone/>
            </a:pPr>
            <a:r>
              <a:rPr b="1" lang="en-US" sz="1350">
                <a:solidFill>
                  <a:srgbClr val="00A896"/>
                </a:solidFill>
                <a:latin typeface="Consolas"/>
                <a:ea typeface="Consolas"/>
                <a:cs typeface="Consolas"/>
                <a:sym typeface="Consolas"/>
              </a:rPr>
              <a:t>0.5907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5989320" y="2721211"/>
            <a:ext cx="2788800" cy="292500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6053328" y="2748643"/>
            <a:ext cx="141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alibri"/>
              <a:buNone/>
            </a:pPr>
            <a:r>
              <a:rPr lang="en-US" sz="13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Área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7498080" y="2748643"/>
            <a:ext cx="118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950"/>
              <a:buFont typeface="Consolas"/>
              <a:buNone/>
            </a:pPr>
            <a:r>
              <a:rPr b="1" lang="en-US" sz="1350">
                <a:solidFill>
                  <a:srgbClr val="00C8E0"/>
                </a:solidFill>
                <a:latin typeface="Consolas"/>
                <a:ea typeface="Consolas"/>
                <a:cs typeface="Consolas"/>
                <a:sym typeface="Consolas"/>
              </a:rPr>
              <a:t>220 px²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5989320" y="3059539"/>
            <a:ext cx="2788800" cy="292500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6053328" y="3086971"/>
            <a:ext cx="141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alibri"/>
              <a:buNone/>
            </a:pPr>
            <a:r>
              <a:rPr lang="en-US" sz="13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Circularidad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7498080" y="3086971"/>
            <a:ext cx="118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950"/>
              <a:buFont typeface="Consolas"/>
              <a:buNone/>
            </a:pPr>
            <a:r>
              <a:rPr b="1" lang="en-US" sz="1350">
                <a:solidFill>
                  <a:srgbClr val="CDD5E0"/>
                </a:solidFill>
                <a:latin typeface="Consolas"/>
                <a:ea typeface="Consolas"/>
                <a:cs typeface="Consolas"/>
                <a:sym typeface="Consolas"/>
              </a:rPr>
              <a:t>0.7521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5989320" y="3397867"/>
            <a:ext cx="2788800" cy="292500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6053328" y="3425299"/>
            <a:ext cx="141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alibri"/>
              <a:buNone/>
            </a:pPr>
            <a:r>
              <a:rPr lang="en-US" sz="13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Solidez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7498080" y="3425299"/>
            <a:ext cx="118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950"/>
              <a:buFont typeface="Consolas"/>
              <a:buNone/>
            </a:pPr>
            <a:r>
              <a:rPr b="1" lang="en-US" sz="1350">
                <a:solidFill>
                  <a:srgbClr val="CDD5E0"/>
                </a:solidFill>
                <a:latin typeface="Consolas"/>
                <a:ea typeface="Consolas"/>
                <a:cs typeface="Consolas"/>
                <a:sym typeface="Consolas"/>
              </a:rPr>
              <a:t>0.9362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5989320" y="3736195"/>
            <a:ext cx="2788800" cy="292500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6053328" y="3763627"/>
            <a:ext cx="141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alibri"/>
              <a:buNone/>
            </a:pPr>
            <a:r>
              <a:rPr lang="en-US" sz="13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Intens. media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7498080" y="3763627"/>
            <a:ext cx="118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950"/>
              <a:buFont typeface="Consolas"/>
              <a:buNone/>
            </a:pPr>
            <a:r>
              <a:rPr b="1" lang="en-US" sz="1350">
                <a:solidFill>
                  <a:srgbClr val="CDD5E0"/>
                </a:solidFill>
                <a:latin typeface="Consolas"/>
                <a:ea typeface="Consolas"/>
                <a:cs typeface="Consolas"/>
                <a:sym typeface="Consolas"/>
              </a:rPr>
              <a:t>74.84 ± 6.56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/>
          <p:nvPr/>
        </p:nvSpPr>
        <p:spPr>
          <a:xfrm>
            <a:off x="5989320" y="4074523"/>
            <a:ext cx="2788800" cy="292500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6053328" y="4101955"/>
            <a:ext cx="141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alibri"/>
              <a:buNone/>
            </a:pPr>
            <a:r>
              <a:rPr lang="en-US" sz="13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CBT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7498080" y="4101955"/>
            <a:ext cx="118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50"/>
              <a:buFont typeface="Consolas"/>
              <a:buNone/>
            </a:pPr>
            <a:r>
              <a:rPr b="1" lang="en-US" sz="1350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2.44 u.g.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320040" y="201168"/>
            <a:ext cx="1760220" cy="246888"/>
          </a:xfrm>
          <a:prstGeom prst="rect">
            <a:avLst/>
          </a:prstGeom>
          <a:solidFill>
            <a:srgbClr val="F5A623">
              <a:alpha val="25098"/>
            </a:srgbClr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320040" y="237744"/>
            <a:ext cx="17602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03 · RESULTADOS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320040" y="502920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lang="en-US"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Segmentación - Region Growing Libre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3" name="Google Shape;39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88720"/>
            <a:ext cx="548640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2"/>
          <p:cNvSpPr/>
          <p:nvPr/>
        </p:nvSpPr>
        <p:spPr>
          <a:xfrm>
            <a:off x="5943600" y="1188720"/>
            <a:ext cx="2880300" cy="3474600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5943600" y="1188720"/>
            <a:ext cx="64008" cy="347472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6126475" y="1269825"/>
            <a:ext cx="25602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00"/>
              <a:buFont typeface="Calibri"/>
              <a:buNone/>
            </a:pPr>
            <a:br>
              <a:rPr b="1" lang="en-US" sz="13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100"/>
              <a:buFont typeface="Calibri"/>
              <a:buNone/>
            </a:pPr>
            <a:r>
              <a:rPr b="1" lang="en-US" sz="16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Region Growing Libre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1100"/>
              <a:buFont typeface="Calibri"/>
              <a:buNone/>
            </a:pPr>
            <a:r>
              <a:rPr lang="en-US" sz="16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Tolerancia = 25</a:t>
            </a:r>
            <a:br>
              <a:rPr lang="en-US" sz="13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5989320" y="2034088"/>
            <a:ext cx="2788800" cy="292500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6053328" y="2061520"/>
            <a:ext cx="141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alibri"/>
              <a:buNone/>
            </a:pPr>
            <a:r>
              <a:rPr lang="en-US" sz="13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Dice Score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7498080" y="2061520"/>
            <a:ext cx="118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50"/>
              <a:buFont typeface="Consolas"/>
              <a:buNone/>
            </a:pPr>
            <a:r>
              <a:rPr b="1" lang="en-US" sz="1350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0.8829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5989320" y="2372416"/>
            <a:ext cx="2788800" cy="292500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6053328" y="2399848"/>
            <a:ext cx="141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alibri"/>
              <a:buNone/>
            </a:pPr>
            <a:r>
              <a:rPr lang="en-US" sz="13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IoU (Jaccard)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7498080" y="2399848"/>
            <a:ext cx="118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50"/>
              <a:buFont typeface="Consolas"/>
              <a:buNone/>
            </a:pPr>
            <a:r>
              <a:rPr b="1" lang="en-US" sz="1350">
                <a:solidFill>
                  <a:srgbClr val="00A896"/>
                </a:solidFill>
                <a:latin typeface="Consolas"/>
                <a:ea typeface="Consolas"/>
                <a:cs typeface="Consolas"/>
                <a:sym typeface="Consolas"/>
              </a:rPr>
              <a:t>0.7903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5989320" y="2710744"/>
            <a:ext cx="2788800" cy="292500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6053328" y="2738176"/>
            <a:ext cx="141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alibri"/>
              <a:buNone/>
            </a:pPr>
            <a:r>
              <a:rPr lang="en-US" sz="13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Área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7498080" y="2738176"/>
            <a:ext cx="118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950"/>
              <a:buFont typeface="Consolas"/>
              <a:buNone/>
            </a:pPr>
            <a:r>
              <a:rPr b="1" lang="en-US" sz="1350">
                <a:solidFill>
                  <a:srgbClr val="00C8E0"/>
                </a:solidFill>
                <a:latin typeface="Consolas"/>
                <a:ea typeface="Consolas"/>
                <a:cs typeface="Consolas"/>
                <a:sym typeface="Consolas"/>
              </a:rPr>
              <a:t>1047 px²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5989320" y="3049072"/>
            <a:ext cx="2788800" cy="292500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6053328" y="3076504"/>
            <a:ext cx="141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alibri"/>
              <a:buNone/>
            </a:pPr>
            <a:r>
              <a:rPr lang="en-US" sz="13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Circularidad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7498080" y="3076504"/>
            <a:ext cx="118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950"/>
              <a:buFont typeface="Consolas"/>
              <a:buNone/>
            </a:pPr>
            <a:r>
              <a:rPr b="1" lang="en-US" sz="1350">
                <a:solidFill>
                  <a:srgbClr val="CDD5E0"/>
                </a:solidFill>
                <a:latin typeface="Consolas"/>
                <a:ea typeface="Consolas"/>
                <a:cs typeface="Consolas"/>
                <a:sym typeface="Consolas"/>
              </a:rPr>
              <a:t>0.5230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5989320" y="3387400"/>
            <a:ext cx="2788800" cy="292500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6053328" y="3414832"/>
            <a:ext cx="141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alibri"/>
              <a:buNone/>
            </a:pPr>
            <a:r>
              <a:rPr lang="en-US" sz="13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Solidez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7498080" y="3414832"/>
            <a:ext cx="118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950"/>
              <a:buFont typeface="Consolas"/>
              <a:buNone/>
            </a:pPr>
            <a:r>
              <a:rPr b="1" lang="en-US" sz="1350">
                <a:solidFill>
                  <a:srgbClr val="CDD5E0"/>
                </a:solidFill>
                <a:latin typeface="Consolas"/>
                <a:ea typeface="Consolas"/>
                <a:cs typeface="Consolas"/>
                <a:sym typeface="Consolas"/>
              </a:rPr>
              <a:t>0.8356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5989320" y="3725728"/>
            <a:ext cx="2788800" cy="292500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6053328" y="3753160"/>
            <a:ext cx="141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alibri"/>
              <a:buNone/>
            </a:pPr>
            <a:r>
              <a:rPr lang="en-US" sz="13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Intens. media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7205649" y="3753150"/>
            <a:ext cx="148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950"/>
              <a:buFont typeface="Consolas"/>
              <a:buNone/>
            </a:pPr>
            <a:r>
              <a:rPr b="1" lang="en-US" sz="1350">
                <a:solidFill>
                  <a:srgbClr val="CDD5E0"/>
                </a:solidFill>
                <a:latin typeface="Consolas"/>
                <a:ea typeface="Consolas"/>
                <a:cs typeface="Consolas"/>
                <a:sym typeface="Consolas"/>
              </a:rPr>
              <a:t>130.86 ± 10.83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/>
          <p:nvPr/>
        </p:nvSpPr>
        <p:spPr>
          <a:xfrm>
            <a:off x="5989320" y="4064056"/>
            <a:ext cx="2788800" cy="292500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6053328" y="4091488"/>
            <a:ext cx="141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alibri"/>
              <a:buNone/>
            </a:pPr>
            <a:r>
              <a:rPr lang="en-US" sz="13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CBT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7498080" y="4091488"/>
            <a:ext cx="118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50"/>
              <a:buFont typeface="Consolas"/>
              <a:buNone/>
            </a:pPr>
            <a:r>
              <a:rPr b="1" lang="en-US" sz="1350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9.81 u.g.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3"/>
          <p:cNvSpPr/>
          <p:nvPr/>
        </p:nvSpPr>
        <p:spPr>
          <a:xfrm>
            <a:off x="320040" y="201168"/>
            <a:ext cx="1760220" cy="246888"/>
          </a:xfrm>
          <a:prstGeom prst="rect">
            <a:avLst/>
          </a:prstGeom>
          <a:solidFill>
            <a:srgbClr val="00C8E0">
              <a:alpha val="25098"/>
            </a:srgbClr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3"/>
          <p:cNvSpPr/>
          <p:nvPr/>
        </p:nvSpPr>
        <p:spPr>
          <a:xfrm>
            <a:off x="320040" y="237744"/>
            <a:ext cx="17602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00C8E0"/>
                </a:solidFill>
                <a:latin typeface="Consolas"/>
                <a:ea typeface="Consolas"/>
                <a:cs typeface="Consolas"/>
                <a:sym typeface="Consolas"/>
              </a:rPr>
              <a:t>03 · RESULTADOS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3"/>
          <p:cNvSpPr/>
          <p:nvPr/>
        </p:nvSpPr>
        <p:spPr>
          <a:xfrm>
            <a:off x="320040" y="502920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lang="en-US"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Segmentación - Refinamiento Morfológico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7" name="Google Shape;42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88720"/>
            <a:ext cx="548640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13"/>
          <p:cNvSpPr/>
          <p:nvPr/>
        </p:nvSpPr>
        <p:spPr>
          <a:xfrm>
            <a:off x="5943600" y="1188720"/>
            <a:ext cx="2880360" cy="3474720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3"/>
          <p:cNvSpPr/>
          <p:nvPr/>
        </p:nvSpPr>
        <p:spPr>
          <a:xfrm>
            <a:off x="5943600" y="1188720"/>
            <a:ext cx="64008" cy="3474720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3"/>
          <p:cNvSpPr/>
          <p:nvPr/>
        </p:nvSpPr>
        <p:spPr>
          <a:xfrm>
            <a:off x="6126475" y="1264925"/>
            <a:ext cx="2560200" cy="9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100"/>
              <a:buFont typeface="Calibri"/>
              <a:buNone/>
            </a:pPr>
            <a:r>
              <a:rPr b="1" lang="en-US" sz="16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Refinamiento Morfológico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1100"/>
              <a:buFont typeface="Calibri"/>
              <a:buNone/>
            </a:pPr>
            <a:r>
              <a:rPr lang="en-US" sz="16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Apertura kernel 5×5</a:t>
            </a:r>
            <a:br>
              <a:rPr lang="en-US" sz="16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5989320" y="2013154"/>
            <a:ext cx="2788800" cy="292500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3"/>
          <p:cNvSpPr/>
          <p:nvPr/>
        </p:nvSpPr>
        <p:spPr>
          <a:xfrm>
            <a:off x="6053328" y="2040586"/>
            <a:ext cx="141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alibri"/>
              <a:buNone/>
            </a:pPr>
            <a:r>
              <a:rPr lang="en-US" sz="135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Dice Score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3"/>
          <p:cNvSpPr/>
          <p:nvPr/>
        </p:nvSpPr>
        <p:spPr>
          <a:xfrm>
            <a:off x="7498080" y="2040586"/>
            <a:ext cx="118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50"/>
              <a:buFont typeface="Consolas"/>
              <a:buNone/>
            </a:pPr>
            <a:r>
              <a:rPr b="1" lang="en-US" sz="1350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0.9560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3"/>
          <p:cNvSpPr/>
          <p:nvPr/>
        </p:nvSpPr>
        <p:spPr>
          <a:xfrm>
            <a:off x="5989320" y="2351482"/>
            <a:ext cx="2788800" cy="292500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3"/>
          <p:cNvSpPr/>
          <p:nvPr/>
        </p:nvSpPr>
        <p:spPr>
          <a:xfrm>
            <a:off x="6053328" y="2378914"/>
            <a:ext cx="141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alibri"/>
              <a:buNone/>
            </a:pPr>
            <a:r>
              <a:rPr lang="en-US" sz="135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IoU (Jaccard)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3"/>
          <p:cNvSpPr/>
          <p:nvPr/>
        </p:nvSpPr>
        <p:spPr>
          <a:xfrm>
            <a:off x="7498080" y="2378914"/>
            <a:ext cx="118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50"/>
              <a:buFont typeface="Consolas"/>
              <a:buNone/>
            </a:pPr>
            <a:r>
              <a:rPr b="1" lang="en-US" sz="1350">
                <a:solidFill>
                  <a:srgbClr val="00A896"/>
                </a:solidFill>
                <a:latin typeface="Consolas"/>
                <a:ea typeface="Consolas"/>
                <a:cs typeface="Consolas"/>
                <a:sym typeface="Consolas"/>
              </a:rPr>
              <a:t>0.9160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3"/>
          <p:cNvSpPr/>
          <p:nvPr/>
        </p:nvSpPr>
        <p:spPr>
          <a:xfrm>
            <a:off x="5989320" y="2689810"/>
            <a:ext cx="2788800" cy="292500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3"/>
          <p:cNvSpPr/>
          <p:nvPr/>
        </p:nvSpPr>
        <p:spPr>
          <a:xfrm>
            <a:off x="6053328" y="2717242"/>
            <a:ext cx="141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alibri"/>
              <a:buNone/>
            </a:pPr>
            <a:r>
              <a:rPr lang="en-US" sz="135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Área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3"/>
          <p:cNvSpPr/>
          <p:nvPr/>
        </p:nvSpPr>
        <p:spPr>
          <a:xfrm>
            <a:off x="7498080" y="2717242"/>
            <a:ext cx="118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950"/>
              <a:buFont typeface="Consolas"/>
              <a:buNone/>
            </a:pPr>
            <a:r>
              <a:rPr b="1" lang="en-US" sz="1350">
                <a:solidFill>
                  <a:srgbClr val="00C8E0"/>
                </a:solidFill>
                <a:latin typeface="Consolas"/>
                <a:ea typeface="Consolas"/>
                <a:cs typeface="Consolas"/>
                <a:sym typeface="Consolas"/>
              </a:rPr>
              <a:t>3730 px²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3"/>
          <p:cNvSpPr/>
          <p:nvPr/>
        </p:nvSpPr>
        <p:spPr>
          <a:xfrm>
            <a:off x="5989320" y="3028138"/>
            <a:ext cx="2788800" cy="292500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6053328" y="3055570"/>
            <a:ext cx="141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alibri"/>
              <a:buNone/>
            </a:pPr>
            <a:r>
              <a:rPr lang="en-US" sz="135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Circularidad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3"/>
          <p:cNvSpPr/>
          <p:nvPr/>
        </p:nvSpPr>
        <p:spPr>
          <a:xfrm>
            <a:off x="7498080" y="3055570"/>
            <a:ext cx="118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950"/>
              <a:buFont typeface="Consolas"/>
              <a:buNone/>
            </a:pPr>
            <a:r>
              <a:rPr b="1" lang="en-US" sz="1350">
                <a:solidFill>
                  <a:srgbClr val="CDD5E0"/>
                </a:solidFill>
                <a:latin typeface="Consolas"/>
                <a:ea typeface="Consolas"/>
                <a:cs typeface="Consolas"/>
                <a:sym typeface="Consolas"/>
              </a:rPr>
              <a:t>0.5139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3"/>
          <p:cNvSpPr/>
          <p:nvPr/>
        </p:nvSpPr>
        <p:spPr>
          <a:xfrm>
            <a:off x="5989320" y="3366466"/>
            <a:ext cx="2788800" cy="292500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6053328" y="3393898"/>
            <a:ext cx="141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alibri"/>
              <a:buNone/>
            </a:pPr>
            <a:r>
              <a:rPr lang="en-US" sz="135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Solidez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7498080" y="3393898"/>
            <a:ext cx="118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950"/>
              <a:buFont typeface="Consolas"/>
              <a:buNone/>
            </a:pPr>
            <a:r>
              <a:rPr b="1" lang="en-US" sz="1350">
                <a:solidFill>
                  <a:srgbClr val="CDD5E0"/>
                </a:solidFill>
                <a:latin typeface="Consolas"/>
                <a:ea typeface="Consolas"/>
                <a:cs typeface="Consolas"/>
                <a:sym typeface="Consolas"/>
              </a:rPr>
              <a:t>0.8341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3"/>
          <p:cNvSpPr/>
          <p:nvPr/>
        </p:nvSpPr>
        <p:spPr>
          <a:xfrm>
            <a:off x="5989320" y="3704794"/>
            <a:ext cx="2788800" cy="292500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6053328" y="3732226"/>
            <a:ext cx="141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alibri"/>
              <a:buNone/>
            </a:pPr>
            <a:r>
              <a:rPr lang="en-US" sz="135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Intens. media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3"/>
          <p:cNvSpPr/>
          <p:nvPr/>
        </p:nvSpPr>
        <p:spPr>
          <a:xfrm>
            <a:off x="7224224" y="3732225"/>
            <a:ext cx="14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950"/>
              <a:buFont typeface="Consolas"/>
              <a:buNone/>
            </a:pPr>
            <a:r>
              <a:rPr b="1" lang="en-US" sz="1350">
                <a:solidFill>
                  <a:srgbClr val="CDD5E0"/>
                </a:solidFill>
                <a:latin typeface="Consolas"/>
                <a:ea typeface="Consolas"/>
                <a:cs typeface="Consolas"/>
                <a:sym typeface="Consolas"/>
              </a:rPr>
              <a:t>141.22 ± 19.96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3"/>
          <p:cNvSpPr/>
          <p:nvPr/>
        </p:nvSpPr>
        <p:spPr>
          <a:xfrm>
            <a:off x="5989320" y="4043122"/>
            <a:ext cx="2788800" cy="292500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3"/>
          <p:cNvSpPr/>
          <p:nvPr/>
        </p:nvSpPr>
        <p:spPr>
          <a:xfrm>
            <a:off x="6053328" y="4070554"/>
            <a:ext cx="141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alibri"/>
              <a:buNone/>
            </a:pPr>
            <a:r>
              <a:rPr lang="en-US" sz="135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CBT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3"/>
          <p:cNvSpPr/>
          <p:nvPr/>
        </p:nvSpPr>
        <p:spPr>
          <a:xfrm>
            <a:off x="7498080" y="4070554"/>
            <a:ext cx="118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50"/>
              <a:buFont typeface="Consolas"/>
              <a:buNone/>
            </a:pPr>
            <a:r>
              <a:rPr b="1" lang="en-US" sz="1350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23.87 u.g.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4"/>
          <p:cNvSpPr/>
          <p:nvPr/>
        </p:nvSpPr>
        <p:spPr>
          <a:xfrm>
            <a:off x="320040" y="201168"/>
            <a:ext cx="1760220" cy="246888"/>
          </a:xfrm>
          <a:prstGeom prst="rect">
            <a:avLst/>
          </a:prstGeom>
          <a:solidFill>
            <a:srgbClr val="A78BFA">
              <a:alpha val="25098"/>
            </a:srgbClr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4"/>
          <p:cNvSpPr/>
          <p:nvPr/>
        </p:nvSpPr>
        <p:spPr>
          <a:xfrm>
            <a:off x="320040" y="237744"/>
            <a:ext cx="17602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03 · RESULTADOS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4"/>
          <p:cNvSpPr/>
          <p:nvPr/>
        </p:nvSpPr>
        <p:spPr>
          <a:xfrm>
            <a:off x="320040" y="502920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lang="en-US"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Comparativa de Características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4"/>
          <p:cNvSpPr/>
          <p:nvPr/>
        </p:nvSpPr>
        <p:spPr>
          <a:xfrm>
            <a:off x="256032" y="1170432"/>
            <a:ext cx="1965960" cy="347472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310896" y="1207008"/>
            <a:ext cx="1856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1000"/>
              <a:buFont typeface="Calibri"/>
              <a:buNone/>
            </a:pPr>
            <a:r>
              <a:rPr b="1" lang="en-US" sz="17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Característica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4"/>
          <p:cNvSpPr/>
          <p:nvPr/>
        </p:nvSpPr>
        <p:spPr>
          <a:xfrm>
            <a:off x="2221992" y="1170432"/>
            <a:ext cx="2148840" cy="347472"/>
          </a:xfrm>
          <a:prstGeom prst="rect">
            <a:avLst/>
          </a:prstGeom>
          <a:solidFill>
            <a:srgbClr val="00A896">
              <a:alpha val="80000"/>
            </a:srgbClr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4"/>
          <p:cNvSpPr/>
          <p:nvPr/>
        </p:nvSpPr>
        <p:spPr>
          <a:xfrm>
            <a:off x="2276856" y="1207008"/>
            <a:ext cx="20391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1"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Fig. 6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4"/>
          <p:cNvSpPr/>
          <p:nvPr/>
        </p:nvSpPr>
        <p:spPr>
          <a:xfrm>
            <a:off x="4370832" y="1170432"/>
            <a:ext cx="2148840" cy="347472"/>
          </a:xfrm>
          <a:prstGeom prst="rect">
            <a:avLst/>
          </a:prstGeom>
          <a:solidFill>
            <a:srgbClr val="F5A623">
              <a:alpha val="80000"/>
            </a:srgbClr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4"/>
          <p:cNvSpPr/>
          <p:nvPr/>
        </p:nvSpPr>
        <p:spPr>
          <a:xfrm>
            <a:off x="4425696" y="1207008"/>
            <a:ext cx="20391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Calibri"/>
              <a:buNone/>
            </a:pPr>
            <a:r>
              <a:rPr b="1"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Fig. 7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4"/>
          <p:cNvSpPr/>
          <p:nvPr/>
        </p:nvSpPr>
        <p:spPr>
          <a:xfrm>
            <a:off x="6519672" y="1170432"/>
            <a:ext cx="2148840" cy="347472"/>
          </a:xfrm>
          <a:prstGeom prst="rect">
            <a:avLst/>
          </a:prstGeom>
          <a:solidFill>
            <a:srgbClr val="00C8E0">
              <a:alpha val="80000"/>
            </a:srgbClr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4"/>
          <p:cNvSpPr/>
          <p:nvPr/>
        </p:nvSpPr>
        <p:spPr>
          <a:xfrm>
            <a:off x="6574536" y="1207008"/>
            <a:ext cx="20391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000"/>
              <a:buFont typeface="Calibri"/>
              <a:buNone/>
            </a:pPr>
            <a:r>
              <a:rPr b="1"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Fig. 8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4"/>
          <p:cNvSpPr/>
          <p:nvPr/>
        </p:nvSpPr>
        <p:spPr>
          <a:xfrm>
            <a:off x="256032" y="1517904"/>
            <a:ext cx="1965960" cy="310896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4"/>
          <p:cNvSpPr/>
          <p:nvPr/>
        </p:nvSpPr>
        <p:spPr>
          <a:xfrm>
            <a:off x="310896" y="1554480"/>
            <a:ext cx="18562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50"/>
              <a:buFont typeface="Calibri"/>
              <a:buNone/>
            </a:pPr>
            <a:r>
              <a:rPr lang="en-US" sz="165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Dice Score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4"/>
          <p:cNvSpPr/>
          <p:nvPr/>
        </p:nvSpPr>
        <p:spPr>
          <a:xfrm>
            <a:off x="2221992" y="1517904"/>
            <a:ext cx="2148840" cy="310896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4"/>
          <p:cNvSpPr/>
          <p:nvPr/>
        </p:nvSpPr>
        <p:spPr>
          <a:xfrm>
            <a:off x="2276856" y="1554480"/>
            <a:ext cx="2039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50"/>
              <a:buFont typeface="Consolas"/>
              <a:buNone/>
            </a:pPr>
            <a:r>
              <a:rPr b="1" lang="en-US" sz="1650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0.7427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4"/>
          <p:cNvSpPr/>
          <p:nvPr/>
        </p:nvSpPr>
        <p:spPr>
          <a:xfrm>
            <a:off x="4370832" y="1517904"/>
            <a:ext cx="2148840" cy="310896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4"/>
          <p:cNvSpPr/>
          <p:nvPr/>
        </p:nvSpPr>
        <p:spPr>
          <a:xfrm>
            <a:off x="4425696" y="1554480"/>
            <a:ext cx="2039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50"/>
              <a:buFont typeface="Consolas"/>
              <a:buNone/>
            </a:pPr>
            <a:r>
              <a:rPr b="1" lang="en-US" sz="1650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0.8829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4"/>
          <p:cNvSpPr/>
          <p:nvPr/>
        </p:nvSpPr>
        <p:spPr>
          <a:xfrm>
            <a:off x="6519672" y="1517904"/>
            <a:ext cx="2148840" cy="310896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4"/>
          <p:cNvSpPr/>
          <p:nvPr/>
        </p:nvSpPr>
        <p:spPr>
          <a:xfrm>
            <a:off x="6574536" y="1554480"/>
            <a:ext cx="2039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50"/>
              <a:buFont typeface="Consolas"/>
              <a:buNone/>
            </a:pPr>
            <a:r>
              <a:rPr b="1" lang="en-US" sz="1650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0.956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4"/>
          <p:cNvSpPr/>
          <p:nvPr/>
        </p:nvSpPr>
        <p:spPr>
          <a:xfrm>
            <a:off x="256032" y="1856232"/>
            <a:ext cx="1965960" cy="310896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4"/>
          <p:cNvSpPr/>
          <p:nvPr/>
        </p:nvSpPr>
        <p:spPr>
          <a:xfrm>
            <a:off x="310896" y="1892808"/>
            <a:ext cx="18562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50"/>
              <a:buFont typeface="Calibri"/>
              <a:buNone/>
            </a:pPr>
            <a:r>
              <a:rPr lang="en-US" sz="165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IoU (Jaccard)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4"/>
          <p:cNvSpPr/>
          <p:nvPr/>
        </p:nvSpPr>
        <p:spPr>
          <a:xfrm>
            <a:off x="2221992" y="1856232"/>
            <a:ext cx="2148840" cy="310896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4"/>
          <p:cNvSpPr/>
          <p:nvPr/>
        </p:nvSpPr>
        <p:spPr>
          <a:xfrm>
            <a:off x="2276856" y="1892808"/>
            <a:ext cx="2039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50"/>
              <a:buFont typeface="Consolas"/>
              <a:buNone/>
            </a:pPr>
            <a:r>
              <a:rPr b="1" lang="en-US" sz="1650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0.5907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4"/>
          <p:cNvSpPr/>
          <p:nvPr/>
        </p:nvSpPr>
        <p:spPr>
          <a:xfrm>
            <a:off x="4370832" y="1856232"/>
            <a:ext cx="2148840" cy="310896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4"/>
          <p:cNvSpPr/>
          <p:nvPr/>
        </p:nvSpPr>
        <p:spPr>
          <a:xfrm>
            <a:off x="4425696" y="1892808"/>
            <a:ext cx="2039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50"/>
              <a:buFont typeface="Consolas"/>
              <a:buNone/>
            </a:pPr>
            <a:r>
              <a:rPr b="1" lang="en-US" sz="1650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0.7903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4"/>
          <p:cNvSpPr/>
          <p:nvPr/>
        </p:nvSpPr>
        <p:spPr>
          <a:xfrm>
            <a:off x="6519672" y="1856232"/>
            <a:ext cx="2148840" cy="310896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4"/>
          <p:cNvSpPr/>
          <p:nvPr/>
        </p:nvSpPr>
        <p:spPr>
          <a:xfrm>
            <a:off x="6574536" y="1892808"/>
            <a:ext cx="2039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50"/>
              <a:buFont typeface="Consolas"/>
              <a:buNone/>
            </a:pPr>
            <a:r>
              <a:rPr b="1" lang="en-US" sz="1650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0.916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4"/>
          <p:cNvSpPr/>
          <p:nvPr/>
        </p:nvSpPr>
        <p:spPr>
          <a:xfrm>
            <a:off x="256032" y="2194560"/>
            <a:ext cx="1965960" cy="310896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4"/>
          <p:cNvSpPr/>
          <p:nvPr/>
        </p:nvSpPr>
        <p:spPr>
          <a:xfrm>
            <a:off x="310896" y="2231136"/>
            <a:ext cx="18562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50"/>
              <a:buFont typeface="Calibri"/>
              <a:buNone/>
            </a:pPr>
            <a:r>
              <a:rPr lang="en-US" sz="165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Área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4"/>
          <p:cNvSpPr/>
          <p:nvPr/>
        </p:nvSpPr>
        <p:spPr>
          <a:xfrm>
            <a:off x="2221992" y="2194560"/>
            <a:ext cx="2148840" cy="310896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4"/>
          <p:cNvSpPr/>
          <p:nvPr/>
        </p:nvSpPr>
        <p:spPr>
          <a:xfrm>
            <a:off x="2276856" y="2231136"/>
            <a:ext cx="2039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50"/>
              <a:buFont typeface="Consolas"/>
              <a:buNone/>
            </a:pPr>
            <a:r>
              <a:rPr lang="en-US" sz="1650">
                <a:solidFill>
                  <a:srgbClr val="00A896"/>
                </a:solidFill>
                <a:latin typeface="Consolas"/>
                <a:ea typeface="Consolas"/>
                <a:cs typeface="Consolas"/>
                <a:sym typeface="Consolas"/>
              </a:rPr>
              <a:t>220 px²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4"/>
          <p:cNvSpPr/>
          <p:nvPr/>
        </p:nvSpPr>
        <p:spPr>
          <a:xfrm>
            <a:off x="4370832" y="2194560"/>
            <a:ext cx="2148840" cy="310896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4"/>
          <p:cNvSpPr/>
          <p:nvPr/>
        </p:nvSpPr>
        <p:spPr>
          <a:xfrm>
            <a:off x="4425696" y="2231136"/>
            <a:ext cx="2039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50"/>
              <a:buFont typeface="Consolas"/>
              <a:buNone/>
            </a:pPr>
            <a:r>
              <a:rPr lang="en-US" sz="1650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1047 px²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4"/>
          <p:cNvSpPr/>
          <p:nvPr/>
        </p:nvSpPr>
        <p:spPr>
          <a:xfrm>
            <a:off x="6519672" y="2194560"/>
            <a:ext cx="2148840" cy="310896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4"/>
          <p:cNvSpPr/>
          <p:nvPr/>
        </p:nvSpPr>
        <p:spPr>
          <a:xfrm>
            <a:off x="6574536" y="2231136"/>
            <a:ext cx="2039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950"/>
              <a:buFont typeface="Consolas"/>
              <a:buNone/>
            </a:pPr>
            <a:r>
              <a:rPr lang="en-US" sz="1650">
                <a:solidFill>
                  <a:srgbClr val="00C8E0"/>
                </a:solidFill>
                <a:latin typeface="Consolas"/>
                <a:ea typeface="Consolas"/>
                <a:cs typeface="Consolas"/>
                <a:sym typeface="Consolas"/>
              </a:rPr>
              <a:t>3730 px²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4"/>
          <p:cNvSpPr/>
          <p:nvPr/>
        </p:nvSpPr>
        <p:spPr>
          <a:xfrm>
            <a:off x="256032" y="2532888"/>
            <a:ext cx="1965960" cy="310896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4"/>
          <p:cNvSpPr/>
          <p:nvPr/>
        </p:nvSpPr>
        <p:spPr>
          <a:xfrm>
            <a:off x="310896" y="2569464"/>
            <a:ext cx="18562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50"/>
              <a:buFont typeface="Calibri"/>
              <a:buNone/>
            </a:pPr>
            <a:r>
              <a:rPr lang="en-US" sz="165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Circularidad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4"/>
          <p:cNvSpPr/>
          <p:nvPr/>
        </p:nvSpPr>
        <p:spPr>
          <a:xfrm>
            <a:off x="2221992" y="2532888"/>
            <a:ext cx="2148840" cy="310896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4"/>
          <p:cNvSpPr/>
          <p:nvPr/>
        </p:nvSpPr>
        <p:spPr>
          <a:xfrm>
            <a:off x="2276856" y="2569464"/>
            <a:ext cx="2039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50"/>
              <a:buFont typeface="Consolas"/>
              <a:buNone/>
            </a:pPr>
            <a:r>
              <a:rPr lang="en-US" sz="1650">
                <a:solidFill>
                  <a:srgbClr val="00A896"/>
                </a:solidFill>
                <a:latin typeface="Consolas"/>
                <a:ea typeface="Consolas"/>
                <a:cs typeface="Consolas"/>
                <a:sym typeface="Consolas"/>
              </a:rPr>
              <a:t>0.752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4"/>
          <p:cNvSpPr/>
          <p:nvPr/>
        </p:nvSpPr>
        <p:spPr>
          <a:xfrm>
            <a:off x="4370832" y="2532888"/>
            <a:ext cx="2148840" cy="310896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4"/>
          <p:cNvSpPr/>
          <p:nvPr/>
        </p:nvSpPr>
        <p:spPr>
          <a:xfrm>
            <a:off x="4425696" y="2569464"/>
            <a:ext cx="2039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50"/>
              <a:buFont typeface="Consolas"/>
              <a:buNone/>
            </a:pPr>
            <a:r>
              <a:rPr lang="en-US" sz="1650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0.523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4"/>
          <p:cNvSpPr/>
          <p:nvPr/>
        </p:nvSpPr>
        <p:spPr>
          <a:xfrm>
            <a:off x="6519672" y="2532888"/>
            <a:ext cx="2148840" cy="310896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4"/>
          <p:cNvSpPr/>
          <p:nvPr/>
        </p:nvSpPr>
        <p:spPr>
          <a:xfrm>
            <a:off x="6574536" y="2569464"/>
            <a:ext cx="2039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950"/>
              <a:buFont typeface="Consolas"/>
              <a:buNone/>
            </a:pPr>
            <a:r>
              <a:rPr lang="en-US" sz="1650">
                <a:solidFill>
                  <a:srgbClr val="00C8E0"/>
                </a:solidFill>
                <a:latin typeface="Consolas"/>
                <a:ea typeface="Consolas"/>
                <a:cs typeface="Consolas"/>
                <a:sym typeface="Consolas"/>
              </a:rPr>
              <a:t>0.514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4"/>
          <p:cNvSpPr/>
          <p:nvPr/>
        </p:nvSpPr>
        <p:spPr>
          <a:xfrm>
            <a:off x="256032" y="2871216"/>
            <a:ext cx="1965960" cy="310896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4"/>
          <p:cNvSpPr/>
          <p:nvPr/>
        </p:nvSpPr>
        <p:spPr>
          <a:xfrm>
            <a:off x="310896" y="2907792"/>
            <a:ext cx="18562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50"/>
              <a:buFont typeface="Calibri"/>
              <a:buNone/>
            </a:pPr>
            <a:r>
              <a:rPr lang="en-US" sz="165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Solidez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4"/>
          <p:cNvSpPr/>
          <p:nvPr/>
        </p:nvSpPr>
        <p:spPr>
          <a:xfrm>
            <a:off x="2221992" y="2871216"/>
            <a:ext cx="2148840" cy="310896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4"/>
          <p:cNvSpPr/>
          <p:nvPr/>
        </p:nvSpPr>
        <p:spPr>
          <a:xfrm>
            <a:off x="2276856" y="2907792"/>
            <a:ext cx="2039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50"/>
              <a:buFont typeface="Consolas"/>
              <a:buNone/>
            </a:pPr>
            <a:r>
              <a:rPr lang="en-US" sz="1650">
                <a:solidFill>
                  <a:srgbClr val="00A896"/>
                </a:solidFill>
                <a:latin typeface="Consolas"/>
                <a:ea typeface="Consolas"/>
                <a:cs typeface="Consolas"/>
                <a:sym typeface="Consolas"/>
              </a:rPr>
              <a:t>0.936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4"/>
          <p:cNvSpPr/>
          <p:nvPr/>
        </p:nvSpPr>
        <p:spPr>
          <a:xfrm>
            <a:off x="4370832" y="2871216"/>
            <a:ext cx="2148840" cy="310896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4"/>
          <p:cNvSpPr/>
          <p:nvPr/>
        </p:nvSpPr>
        <p:spPr>
          <a:xfrm>
            <a:off x="4425696" y="2907792"/>
            <a:ext cx="2039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50"/>
              <a:buFont typeface="Consolas"/>
              <a:buNone/>
            </a:pPr>
            <a:r>
              <a:rPr lang="en-US" sz="1650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0.836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4"/>
          <p:cNvSpPr/>
          <p:nvPr/>
        </p:nvSpPr>
        <p:spPr>
          <a:xfrm>
            <a:off x="6519672" y="2871216"/>
            <a:ext cx="2148840" cy="310896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4"/>
          <p:cNvSpPr/>
          <p:nvPr/>
        </p:nvSpPr>
        <p:spPr>
          <a:xfrm>
            <a:off x="6574536" y="2907792"/>
            <a:ext cx="2039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950"/>
              <a:buFont typeface="Consolas"/>
              <a:buNone/>
            </a:pPr>
            <a:r>
              <a:rPr lang="en-US" sz="1650">
                <a:solidFill>
                  <a:srgbClr val="00C8E0"/>
                </a:solidFill>
                <a:latin typeface="Consolas"/>
                <a:ea typeface="Consolas"/>
                <a:cs typeface="Consolas"/>
                <a:sym typeface="Consolas"/>
              </a:rPr>
              <a:t>0.834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4"/>
          <p:cNvSpPr/>
          <p:nvPr/>
        </p:nvSpPr>
        <p:spPr>
          <a:xfrm>
            <a:off x="256032" y="3209544"/>
            <a:ext cx="1965960" cy="310896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4"/>
          <p:cNvSpPr/>
          <p:nvPr/>
        </p:nvSpPr>
        <p:spPr>
          <a:xfrm>
            <a:off x="310896" y="3246120"/>
            <a:ext cx="18562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50"/>
              <a:buFont typeface="Calibri"/>
              <a:buNone/>
            </a:pPr>
            <a:r>
              <a:rPr lang="en-US" sz="165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Intens. media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/>
          <p:nvPr/>
        </p:nvSpPr>
        <p:spPr>
          <a:xfrm>
            <a:off x="2221992" y="3209544"/>
            <a:ext cx="2148840" cy="310896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2276856" y="3246120"/>
            <a:ext cx="2039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50"/>
              <a:buFont typeface="Consolas"/>
              <a:buNone/>
            </a:pPr>
            <a:r>
              <a:rPr lang="en-US" sz="1650">
                <a:solidFill>
                  <a:srgbClr val="00A896"/>
                </a:solidFill>
                <a:latin typeface="Consolas"/>
                <a:ea typeface="Consolas"/>
                <a:cs typeface="Consolas"/>
                <a:sym typeface="Consolas"/>
              </a:rPr>
              <a:t>74.84 ± 6.56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4"/>
          <p:cNvSpPr/>
          <p:nvPr/>
        </p:nvSpPr>
        <p:spPr>
          <a:xfrm>
            <a:off x="4370832" y="3209544"/>
            <a:ext cx="2148840" cy="310896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4425696" y="3246120"/>
            <a:ext cx="2039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50"/>
              <a:buFont typeface="Consolas"/>
              <a:buNone/>
            </a:pPr>
            <a:r>
              <a:rPr lang="en-US" sz="1650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130.86 ± 10.83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4"/>
          <p:cNvSpPr/>
          <p:nvPr/>
        </p:nvSpPr>
        <p:spPr>
          <a:xfrm>
            <a:off x="6519672" y="3209544"/>
            <a:ext cx="2148840" cy="310896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4"/>
          <p:cNvSpPr/>
          <p:nvPr/>
        </p:nvSpPr>
        <p:spPr>
          <a:xfrm>
            <a:off x="6574536" y="3246120"/>
            <a:ext cx="2039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950"/>
              <a:buFont typeface="Consolas"/>
              <a:buNone/>
            </a:pPr>
            <a:r>
              <a:rPr lang="en-US" sz="1650">
                <a:solidFill>
                  <a:srgbClr val="00C8E0"/>
                </a:solidFill>
                <a:latin typeface="Consolas"/>
                <a:ea typeface="Consolas"/>
                <a:cs typeface="Consolas"/>
                <a:sym typeface="Consolas"/>
              </a:rPr>
              <a:t>141.22 ± 19.96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256032" y="3547872"/>
            <a:ext cx="1965960" cy="310896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4"/>
          <p:cNvSpPr/>
          <p:nvPr/>
        </p:nvSpPr>
        <p:spPr>
          <a:xfrm>
            <a:off x="310896" y="3584448"/>
            <a:ext cx="18562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50"/>
              <a:buFont typeface="Calibri"/>
              <a:buNone/>
            </a:pPr>
            <a:r>
              <a:rPr lang="en-US" sz="165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CBT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4"/>
          <p:cNvSpPr/>
          <p:nvPr/>
        </p:nvSpPr>
        <p:spPr>
          <a:xfrm>
            <a:off x="2221992" y="3547872"/>
            <a:ext cx="2148840" cy="310896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4"/>
          <p:cNvSpPr/>
          <p:nvPr/>
        </p:nvSpPr>
        <p:spPr>
          <a:xfrm>
            <a:off x="2276856" y="3584448"/>
            <a:ext cx="2039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50"/>
              <a:buFont typeface="Consolas"/>
              <a:buNone/>
            </a:pPr>
            <a:r>
              <a:rPr lang="en-US" sz="1650">
                <a:solidFill>
                  <a:srgbClr val="00A896"/>
                </a:solidFill>
                <a:latin typeface="Consolas"/>
                <a:ea typeface="Consolas"/>
                <a:cs typeface="Consolas"/>
                <a:sym typeface="Consolas"/>
              </a:rPr>
              <a:t>2.44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4"/>
          <p:cNvSpPr/>
          <p:nvPr/>
        </p:nvSpPr>
        <p:spPr>
          <a:xfrm>
            <a:off x="4370832" y="3547872"/>
            <a:ext cx="2148840" cy="310896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4"/>
          <p:cNvSpPr/>
          <p:nvPr/>
        </p:nvSpPr>
        <p:spPr>
          <a:xfrm>
            <a:off x="4425696" y="3584448"/>
            <a:ext cx="2039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50"/>
              <a:buFont typeface="Consolas"/>
              <a:buNone/>
            </a:pPr>
            <a:r>
              <a:rPr lang="en-US" sz="1650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9.81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4"/>
          <p:cNvSpPr/>
          <p:nvPr/>
        </p:nvSpPr>
        <p:spPr>
          <a:xfrm>
            <a:off x="6519672" y="3547872"/>
            <a:ext cx="2148840" cy="310896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6574536" y="3584448"/>
            <a:ext cx="2039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950"/>
              <a:buFont typeface="Consolas"/>
              <a:buNone/>
            </a:pPr>
            <a:r>
              <a:rPr lang="en-US" sz="1650">
                <a:solidFill>
                  <a:srgbClr val="00C8E0"/>
                </a:solidFill>
                <a:latin typeface="Consolas"/>
                <a:ea typeface="Consolas"/>
                <a:cs typeface="Consolas"/>
                <a:sym typeface="Consolas"/>
              </a:rPr>
              <a:t>23.87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256032" y="3886200"/>
            <a:ext cx="1965960" cy="310896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4"/>
          <p:cNvSpPr/>
          <p:nvPr/>
        </p:nvSpPr>
        <p:spPr>
          <a:xfrm>
            <a:off x="310896" y="3922776"/>
            <a:ext cx="18562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50"/>
              <a:buFont typeface="Calibri"/>
              <a:buNone/>
            </a:pPr>
            <a:r>
              <a:rPr lang="en-US" sz="165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Contraste local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4"/>
          <p:cNvSpPr/>
          <p:nvPr/>
        </p:nvSpPr>
        <p:spPr>
          <a:xfrm>
            <a:off x="2221992" y="3886200"/>
            <a:ext cx="2148840" cy="310896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4"/>
          <p:cNvSpPr/>
          <p:nvPr/>
        </p:nvSpPr>
        <p:spPr>
          <a:xfrm>
            <a:off x="2276856" y="3922776"/>
            <a:ext cx="2039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50"/>
              <a:buFont typeface="Consolas"/>
              <a:buNone/>
            </a:pPr>
            <a:r>
              <a:rPr lang="en-US" sz="1650">
                <a:solidFill>
                  <a:srgbClr val="00A896"/>
                </a:solidFill>
                <a:latin typeface="Consolas"/>
                <a:ea typeface="Consolas"/>
                <a:cs typeface="Consolas"/>
                <a:sym typeface="Consolas"/>
              </a:rPr>
              <a:t>33.86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4"/>
          <p:cNvSpPr/>
          <p:nvPr/>
        </p:nvSpPr>
        <p:spPr>
          <a:xfrm>
            <a:off x="4370832" y="3886200"/>
            <a:ext cx="2148840" cy="310896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4"/>
          <p:cNvSpPr/>
          <p:nvPr/>
        </p:nvSpPr>
        <p:spPr>
          <a:xfrm>
            <a:off x="4425696" y="3922776"/>
            <a:ext cx="2039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50"/>
              <a:buFont typeface="Consolas"/>
              <a:buNone/>
            </a:pPr>
            <a:r>
              <a:rPr lang="en-US" sz="1650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59.80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4"/>
          <p:cNvSpPr/>
          <p:nvPr/>
        </p:nvSpPr>
        <p:spPr>
          <a:xfrm>
            <a:off x="6519672" y="3886200"/>
            <a:ext cx="2148840" cy="310896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4"/>
          <p:cNvSpPr/>
          <p:nvPr/>
        </p:nvSpPr>
        <p:spPr>
          <a:xfrm>
            <a:off x="6574536" y="3922776"/>
            <a:ext cx="2039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950"/>
              <a:buFont typeface="Consolas"/>
              <a:buNone/>
            </a:pPr>
            <a:r>
              <a:rPr lang="en-US" sz="1650">
                <a:solidFill>
                  <a:srgbClr val="00C8E0"/>
                </a:solidFill>
                <a:latin typeface="Consolas"/>
                <a:ea typeface="Consolas"/>
                <a:cs typeface="Consolas"/>
                <a:sym typeface="Consolas"/>
              </a:rPr>
              <a:t>37.44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4"/>
          <p:cNvSpPr/>
          <p:nvPr/>
        </p:nvSpPr>
        <p:spPr>
          <a:xfrm>
            <a:off x="256032" y="4224528"/>
            <a:ext cx="1965960" cy="310896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4"/>
          <p:cNvSpPr/>
          <p:nvPr/>
        </p:nvSpPr>
        <p:spPr>
          <a:xfrm>
            <a:off x="310896" y="4261104"/>
            <a:ext cx="18562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50"/>
              <a:buFont typeface="Calibri"/>
              <a:buNone/>
            </a:pPr>
            <a:r>
              <a:rPr lang="en-US" sz="165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Homogeneidad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4"/>
          <p:cNvSpPr/>
          <p:nvPr/>
        </p:nvSpPr>
        <p:spPr>
          <a:xfrm>
            <a:off x="2221992" y="4224528"/>
            <a:ext cx="2148840" cy="310896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4"/>
          <p:cNvSpPr/>
          <p:nvPr/>
        </p:nvSpPr>
        <p:spPr>
          <a:xfrm>
            <a:off x="2276856" y="4261104"/>
            <a:ext cx="2039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50"/>
              <a:buFont typeface="Consolas"/>
              <a:buNone/>
            </a:pPr>
            <a:r>
              <a:rPr lang="en-US" sz="1650">
                <a:solidFill>
                  <a:srgbClr val="00A896"/>
                </a:solidFill>
                <a:latin typeface="Consolas"/>
                <a:ea typeface="Consolas"/>
                <a:cs typeface="Consolas"/>
                <a:sym typeface="Consolas"/>
              </a:rPr>
              <a:t>0.595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4"/>
          <p:cNvSpPr/>
          <p:nvPr/>
        </p:nvSpPr>
        <p:spPr>
          <a:xfrm>
            <a:off x="4370832" y="4224528"/>
            <a:ext cx="2148840" cy="310896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4"/>
          <p:cNvSpPr/>
          <p:nvPr/>
        </p:nvSpPr>
        <p:spPr>
          <a:xfrm>
            <a:off x="4425696" y="4261104"/>
            <a:ext cx="2039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50"/>
              <a:buFont typeface="Consolas"/>
              <a:buNone/>
            </a:pPr>
            <a:r>
              <a:rPr lang="en-US" sz="1650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0.736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4"/>
          <p:cNvSpPr/>
          <p:nvPr/>
        </p:nvSpPr>
        <p:spPr>
          <a:xfrm>
            <a:off x="6519672" y="4224528"/>
            <a:ext cx="2148840" cy="310896"/>
          </a:xfrm>
          <a:prstGeom prst="rect">
            <a:avLst/>
          </a:prstGeom>
          <a:solidFill>
            <a:srgbClr val="0F1629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4"/>
          <p:cNvSpPr/>
          <p:nvPr/>
        </p:nvSpPr>
        <p:spPr>
          <a:xfrm>
            <a:off x="6574536" y="4261104"/>
            <a:ext cx="2039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950"/>
              <a:buFont typeface="Consolas"/>
              <a:buNone/>
            </a:pPr>
            <a:r>
              <a:rPr lang="en-US" sz="1650">
                <a:solidFill>
                  <a:srgbClr val="00C8E0"/>
                </a:solidFill>
                <a:latin typeface="Consolas"/>
                <a:ea typeface="Consolas"/>
                <a:cs typeface="Consolas"/>
                <a:sym typeface="Consolas"/>
              </a:rPr>
              <a:t>0.705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4"/>
          <p:cNvSpPr/>
          <p:nvPr/>
        </p:nvSpPr>
        <p:spPr>
          <a:xfrm>
            <a:off x="256032" y="4562856"/>
            <a:ext cx="1965960" cy="310896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4"/>
          <p:cNvSpPr/>
          <p:nvPr/>
        </p:nvSpPr>
        <p:spPr>
          <a:xfrm>
            <a:off x="310896" y="4599432"/>
            <a:ext cx="18562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50"/>
              <a:buFont typeface="Calibri"/>
              <a:buNone/>
            </a:pPr>
            <a:r>
              <a:rPr lang="en-US" sz="165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Energía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4"/>
          <p:cNvSpPr/>
          <p:nvPr/>
        </p:nvSpPr>
        <p:spPr>
          <a:xfrm>
            <a:off x="2221992" y="4562856"/>
            <a:ext cx="2148840" cy="310896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4"/>
          <p:cNvSpPr/>
          <p:nvPr/>
        </p:nvSpPr>
        <p:spPr>
          <a:xfrm>
            <a:off x="2276856" y="4599432"/>
            <a:ext cx="2039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50"/>
              <a:buFont typeface="Consolas"/>
              <a:buNone/>
            </a:pPr>
            <a:r>
              <a:rPr lang="en-US" sz="1650">
                <a:solidFill>
                  <a:srgbClr val="00A896"/>
                </a:solidFill>
                <a:latin typeface="Consolas"/>
                <a:ea typeface="Consolas"/>
                <a:cs typeface="Consolas"/>
                <a:sym typeface="Consolas"/>
              </a:rPr>
              <a:t>0.238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4"/>
          <p:cNvSpPr/>
          <p:nvPr/>
        </p:nvSpPr>
        <p:spPr>
          <a:xfrm>
            <a:off x="4370832" y="4562856"/>
            <a:ext cx="2148840" cy="310896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4"/>
          <p:cNvSpPr/>
          <p:nvPr/>
        </p:nvSpPr>
        <p:spPr>
          <a:xfrm>
            <a:off x="4425696" y="4599432"/>
            <a:ext cx="2039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50"/>
              <a:buFont typeface="Consolas"/>
              <a:buNone/>
            </a:pPr>
            <a:r>
              <a:rPr lang="en-US" sz="1650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0.456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4"/>
          <p:cNvSpPr/>
          <p:nvPr/>
        </p:nvSpPr>
        <p:spPr>
          <a:xfrm>
            <a:off x="6519672" y="4562856"/>
            <a:ext cx="2148840" cy="310896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4"/>
          <p:cNvSpPr/>
          <p:nvPr/>
        </p:nvSpPr>
        <p:spPr>
          <a:xfrm>
            <a:off x="6574536" y="4599432"/>
            <a:ext cx="2039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950"/>
              <a:buFont typeface="Consolas"/>
              <a:buNone/>
            </a:pPr>
            <a:r>
              <a:rPr lang="en-US" sz="1650">
                <a:solidFill>
                  <a:srgbClr val="00C8E0"/>
                </a:solidFill>
                <a:latin typeface="Consolas"/>
                <a:ea typeface="Consolas"/>
                <a:cs typeface="Consolas"/>
                <a:sym typeface="Consolas"/>
              </a:rPr>
              <a:t>0.489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0"/>
          <p:cNvSpPr/>
          <p:nvPr/>
        </p:nvSpPr>
        <p:spPr>
          <a:xfrm>
            <a:off x="320040" y="201168"/>
            <a:ext cx="1760220" cy="246888"/>
          </a:xfrm>
          <a:prstGeom prst="rect">
            <a:avLst/>
          </a:prstGeom>
          <a:solidFill>
            <a:srgbClr val="F5A623">
              <a:alpha val="25098"/>
            </a:srgbClr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0"/>
          <p:cNvSpPr/>
          <p:nvPr/>
        </p:nvSpPr>
        <p:spPr>
          <a:xfrm>
            <a:off x="320040" y="237744"/>
            <a:ext cx="17602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03 · RESULTADOS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0"/>
          <p:cNvSpPr/>
          <p:nvPr/>
        </p:nvSpPr>
        <p:spPr>
          <a:xfrm>
            <a:off x="320040" y="502920"/>
            <a:ext cx="850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lang="en-US"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Evaluador Adaptativo en Tiempo Real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0"/>
          <p:cNvSpPr/>
          <p:nvPr/>
        </p:nvSpPr>
        <p:spPr>
          <a:xfrm>
            <a:off x="320040" y="1002792"/>
            <a:ext cx="8503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1050"/>
              <a:buFont typeface="Calibri"/>
              <a:buNone/>
            </a:pPr>
            <a:r>
              <a:rPr i="1" lang="en-US" sz="145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El algoritmo procesa imágenes aleatoriamente del dataset hasta alcanzar el objetivo de segmentaciones BUENAS y MALAS configurado en el código.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9" name="Google Shape;55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481328"/>
            <a:ext cx="5303520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10"/>
          <p:cNvSpPr/>
          <p:nvPr/>
        </p:nvSpPr>
        <p:spPr>
          <a:xfrm>
            <a:off x="5806450" y="1481325"/>
            <a:ext cx="3017400" cy="1011000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0"/>
          <p:cNvSpPr/>
          <p:nvPr/>
        </p:nvSpPr>
        <p:spPr>
          <a:xfrm>
            <a:off x="5806440" y="1481328"/>
            <a:ext cx="63900" cy="713100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0"/>
          <p:cNvSpPr/>
          <p:nvPr/>
        </p:nvSpPr>
        <p:spPr>
          <a:xfrm>
            <a:off x="5989330" y="1559114"/>
            <a:ext cx="26976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000"/>
              <a:buFont typeface="Trebuchet MS"/>
              <a:buNone/>
            </a:pPr>
            <a:r>
              <a:rPr b="1" lang="en-US" sz="1300">
                <a:solidFill>
                  <a:srgbClr val="00C8E0"/>
                </a:solidFill>
                <a:latin typeface="Trebuchet MS"/>
                <a:ea typeface="Trebuchet MS"/>
                <a:cs typeface="Trebuchet MS"/>
                <a:sym typeface="Trebuchet MS"/>
              </a:rPr>
              <a:t>Objetivo configurado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0"/>
          <p:cNvSpPr/>
          <p:nvPr/>
        </p:nvSpPr>
        <p:spPr>
          <a:xfrm>
            <a:off x="5989330" y="1948061"/>
            <a:ext cx="26976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950"/>
              <a:buFont typeface="Calibri"/>
              <a:buNone/>
            </a:pPr>
            <a:r>
              <a:rPr lang="en-US" sz="125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5 segmentaciones BUENAS (Dice ≥ 0.7)</a:t>
            </a:r>
            <a:endParaRPr sz="1250">
              <a:solidFill>
                <a:srgbClr val="CDD5E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950"/>
              <a:buFont typeface="Calibri"/>
              <a:buNone/>
            </a:pPr>
            <a:r>
              <a:rPr lang="en-US" sz="125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2 MALAS (Dice &lt; 0.7)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0"/>
          <p:cNvSpPr/>
          <p:nvPr/>
        </p:nvSpPr>
        <p:spPr>
          <a:xfrm>
            <a:off x="5806450" y="2622234"/>
            <a:ext cx="3017400" cy="1011000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0"/>
          <p:cNvSpPr/>
          <p:nvPr/>
        </p:nvSpPr>
        <p:spPr>
          <a:xfrm>
            <a:off x="5806440" y="2286000"/>
            <a:ext cx="63900" cy="7131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0"/>
          <p:cNvSpPr/>
          <p:nvPr/>
        </p:nvSpPr>
        <p:spPr>
          <a:xfrm>
            <a:off x="5989330" y="2700024"/>
            <a:ext cx="26976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Trebuchet MS"/>
              <a:buNone/>
            </a:pPr>
            <a:r>
              <a:rPr b="1" lang="en-US" sz="1300">
                <a:solidFill>
                  <a:srgbClr val="00A896"/>
                </a:solidFill>
                <a:latin typeface="Trebuchet MS"/>
                <a:ea typeface="Trebuchet MS"/>
                <a:cs typeface="Trebuchet MS"/>
                <a:sym typeface="Trebuchet MS"/>
              </a:rPr>
              <a:t>Resultado ejecución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0"/>
          <p:cNvSpPr/>
          <p:nvPr/>
        </p:nvSpPr>
        <p:spPr>
          <a:xfrm>
            <a:off x="5989330" y="3088970"/>
            <a:ext cx="26976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950"/>
              <a:buFont typeface="Calibri"/>
              <a:buNone/>
            </a:pPr>
            <a:r>
              <a:rPr lang="en-US" sz="125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Se logró 8 BUENAS y 2 MALAS antes de agotar el objetivo de MALAS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0"/>
          <p:cNvSpPr/>
          <p:nvPr/>
        </p:nvSpPr>
        <p:spPr>
          <a:xfrm>
            <a:off x="5806450" y="3763144"/>
            <a:ext cx="3017400" cy="1011000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0"/>
          <p:cNvSpPr/>
          <p:nvPr/>
        </p:nvSpPr>
        <p:spPr>
          <a:xfrm>
            <a:off x="5806440" y="3090672"/>
            <a:ext cx="63900" cy="7131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0"/>
          <p:cNvSpPr/>
          <p:nvPr/>
        </p:nvSpPr>
        <p:spPr>
          <a:xfrm>
            <a:off x="5989330" y="3840933"/>
            <a:ext cx="26976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Trebuchet MS"/>
              <a:buNone/>
            </a:pPr>
            <a:r>
              <a:rPr b="1" lang="en-US" sz="1300">
                <a:solidFill>
                  <a:srgbClr val="F5A623"/>
                </a:solidFill>
                <a:latin typeface="Trebuchet MS"/>
                <a:ea typeface="Trebuchet MS"/>
                <a:cs typeface="Trebuchet MS"/>
                <a:sym typeface="Trebuchet MS"/>
              </a:rPr>
              <a:t>Estrategia ganadora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0"/>
          <p:cNvSpPr/>
          <p:nvPr/>
        </p:nvSpPr>
        <p:spPr>
          <a:xfrm>
            <a:off x="5989330" y="4229880"/>
            <a:ext cx="26976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950"/>
              <a:buFont typeface="Calibri"/>
              <a:buNone/>
            </a:pPr>
            <a:r>
              <a:rPr lang="en-US" sz="125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Refinamiento Morfológico predomina, seguido de Region Growing Guiado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2" name="Google Shape;5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5900" y="3639297"/>
            <a:ext cx="4249526" cy="139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5"/>
          <p:cNvSpPr/>
          <p:nvPr/>
        </p:nvSpPr>
        <p:spPr>
          <a:xfrm>
            <a:off x="320040" y="201168"/>
            <a:ext cx="1952244" cy="246888"/>
          </a:xfrm>
          <a:prstGeom prst="rect">
            <a:avLst/>
          </a:prstGeom>
          <a:solidFill>
            <a:srgbClr val="F5A623">
              <a:alpha val="25098"/>
            </a:srgbClr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5"/>
          <p:cNvSpPr/>
          <p:nvPr/>
        </p:nvSpPr>
        <p:spPr>
          <a:xfrm>
            <a:off x="320040" y="237744"/>
            <a:ext cx="19522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04 · CONCLUSIONES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5"/>
          <p:cNvSpPr/>
          <p:nvPr/>
        </p:nvSpPr>
        <p:spPr>
          <a:xfrm>
            <a:off x="320040" y="502920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lang="en-US"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Conclusiones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5"/>
          <p:cNvSpPr/>
          <p:nvPr/>
        </p:nvSpPr>
        <p:spPr>
          <a:xfrm>
            <a:off x="274320" y="1207008"/>
            <a:ext cx="4206240" cy="1627632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5"/>
          <p:cNvSpPr/>
          <p:nvPr/>
        </p:nvSpPr>
        <p:spPr>
          <a:xfrm>
            <a:off x="274320" y="1207008"/>
            <a:ext cx="64008" cy="1627632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4" name="Google Shape;58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6245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15"/>
          <p:cNvSpPr/>
          <p:nvPr/>
        </p:nvSpPr>
        <p:spPr>
          <a:xfrm>
            <a:off x="932688" y="1344168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200"/>
              <a:buFont typeface="Trebuchet MS"/>
              <a:buNone/>
            </a:pPr>
            <a:r>
              <a:rPr b="1" lang="en-US" sz="1600">
                <a:solidFill>
                  <a:srgbClr val="00C8E0"/>
                </a:solidFill>
                <a:latin typeface="Trebuchet MS"/>
                <a:ea typeface="Trebuchet MS"/>
                <a:cs typeface="Trebuchet MS"/>
                <a:sym typeface="Trebuchet MS"/>
              </a:rPr>
              <a:t>Preprocesamiento efectivo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5"/>
          <p:cNvSpPr/>
          <p:nvPr/>
        </p:nvSpPr>
        <p:spPr>
          <a:xfrm>
            <a:off x="475488" y="1801368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050"/>
              <a:buFont typeface="Calibri"/>
              <a:buNone/>
            </a:pPr>
            <a:r>
              <a:rPr lang="en-US" sz="155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Filtro mediana 3×3 + CLAHE: incrementos de hasta 165% en contraste sin degradar bordes ni morfología interna del tejido.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5"/>
          <p:cNvSpPr/>
          <p:nvPr/>
        </p:nvSpPr>
        <p:spPr>
          <a:xfrm>
            <a:off x="4709160" y="1207008"/>
            <a:ext cx="4206240" cy="1627632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5"/>
          <p:cNvSpPr/>
          <p:nvPr/>
        </p:nvSpPr>
        <p:spPr>
          <a:xfrm>
            <a:off x="4709160" y="1207008"/>
            <a:ext cx="64008" cy="1627632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9" name="Google Shape;58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2040" y="136245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15"/>
          <p:cNvSpPr/>
          <p:nvPr/>
        </p:nvSpPr>
        <p:spPr>
          <a:xfrm>
            <a:off x="5367528" y="1344168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Trebuchet MS"/>
              <a:buNone/>
            </a:pPr>
            <a:r>
              <a:rPr b="1" lang="en-US" sz="1600">
                <a:solidFill>
                  <a:srgbClr val="00A896"/>
                </a:solidFill>
                <a:latin typeface="Trebuchet MS"/>
                <a:ea typeface="Trebuchet MS"/>
                <a:cs typeface="Trebuchet MS"/>
                <a:sym typeface="Trebuchet MS"/>
              </a:rPr>
              <a:t>Pipeline adaptativo robusto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5"/>
          <p:cNvSpPr/>
          <p:nvPr/>
        </p:nvSpPr>
        <p:spPr>
          <a:xfrm>
            <a:off x="4910328" y="1801368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050"/>
              <a:buFont typeface="Calibri"/>
              <a:buNone/>
            </a:pPr>
            <a:r>
              <a:rPr lang="en-US" sz="155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Evaluador dinámico (Multi-Otsu, Region Growing, Morfología) demostró robustez ante la variabilidad biológica. 50-80% con Dice ≥ 0.7.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5"/>
          <p:cNvSpPr/>
          <p:nvPr/>
        </p:nvSpPr>
        <p:spPr>
          <a:xfrm>
            <a:off x="274320" y="3035808"/>
            <a:ext cx="4206240" cy="1627632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5"/>
          <p:cNvSpPr/>
          <p:nvPr/>
        </p:nvSpPr>
        <p:spPr>
          <a:xfrm>
            <a:off x="274320" y="3035808"/>
            <a:ext cx="64008" cy="1627632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4" name="Google Shape;5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19125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15"/>
          <p:cNvSpPr/>
          <p:nvPr/>
        </p:nvSpPr>
        <p:spPr>
          <a:xfrm>
            <a:off x="932688" y="3172968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200"/>
              <a:buFont typeface="Trebuchet MS"/>
              <a:buNone/>
            </a:pPr>
            <a:r>
              <a:rPr b="1" lang="en-US" sz="1600">
                <a:solidFill>
                  <a:srgbClr val="F5A623"/>
                </a:solidFill>
                <a:latin typeface="Trebuchet MS"/>
                <a:ea typeface="Trebuchet MS"/>
                <a:cs typeface="Trebuchet MS"/>
                <a:sym typeface="Trebuchet MS"/>
              </a:rPr>
              <a:t>CBT — métrica de alto valor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5"/>
          <p:cNvSpPr/>
          <p:nvPr/>
        </p:nvSpPr>
        <p:spPr>
          <a:xfrm>
            <a:off x="475488" y="3630168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050"/>
              <a:buFont typeface="Calibri"/>
              <a:buNone/>
            </a:pPr>
            <a:r>
              <a:rPr lang="en-US" sz="155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El Contraste de Borde Transicional cuantifica la nitidez de la frontera tumor/parénquima sano, imposible de delimitar con precisión visualmente.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5"/>
          <p:cNvSpPr/>
          <p:nvPr/>
        </p:nvSpPr>
        <p:spPr>
          <a:xfrm>
            <a:off x="4709160" y="3035808"/>
            <a:ext cx="4206240" cy="1627632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5"/>
          <p:cNvSpPr/>
          <p:nvPr/>
        </p:nvSpPr>
        <p:spPr>
          <a:xfrm>
            <a:off x="4709160" y="3035808"/>
            <a:ext cx="64008" cy="1627632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9" name="Google Shape;5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2040" y="319125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15"/>
          <p:cNvSpPr/>
          <p:nvPr/>
        </p:nvSpPr>
        <p:spPr>
          <a:xfrm>
            <a:off x="5367528" y="3172968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200"/>
              <a:buFont typeface="Trebuchet MS"/>
              <a:buNone/>
            </a:pPr>
            <a:r>
              <a:rPr b="1" lang="en-US" sz="1600">
                <a:solidFill>
                  <a:srgbClr val="A78BFA"/>
                </a:solidFill>
                <a:latin typeface="Trebuchet MS"/>
                <a:ea typeface="Trebuchet MS"/>
                <a:cs typeface="Trebuchet MS"/>
                <a:sym typeface="Trebuchet MS"/>
              </a:rPr>
              <a:t>Ventajas frente al Deep Learning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5"/>
          <p:cNvSpPr/>
          <p:nvPr/>
        </p:nvSpPr>
        <p:spPr>
          <a:xfrm>
            <a:off x="4910328" y="3630168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050"/>
              <a:buFont typeface="Calibri"/>
              <a:buNone/>
            </a:pPr>
            <a:r>
              <a:rPr lang="en-US" sz="155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Sin dataset masivo - Sin caja negra - Interpretabilidad matemática directa en cada fase del pipeline.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6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4D6D"/>
          </a:solidFill>
          <a:ln cap="flat" cmpd="sng" w="12700">
            <a:solidFill>
              <a:srgbClr val="FF4D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6"/>
          <p:cNvSpPr/>
          <p:nvPr/>
        </p:nvSpPr>
        <p:spPr>
          <a:xfrm>
            <a:off x="320040" y="201168"/>
            <a:ext cx="1952244" cy="246888"/>
          </a:xfrm>
          <a:prstGeom prst="rect">
            <a:avLst/>
          </a:prstGeom>
          <a:solidFill>
            <a:srgbClr val="FF4D6D">
              <a:alpha val="25098"/>
            </a:srgbClr>
          </a:solidFill>
          <a:ln cap="flat" cmpd="sng" w="12700">
            <a:solidFill>
              <a:srgbClr val="FF4D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6"/>
          <p:cNvSpPr/>
          <p:nvPr/>
        </p:nvSpPr>
        <p:spPr>
          <a:xfrm>
            <a:off x="320040" y="237744"/>
            <a:ext cx="19522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D6D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FF4D6D"/>
                </a:solidFill>
                <a:latin typeface="Consolas"/>
                <a:ea typeface="Consolas"/>
                <a:cs typeface="Consolas"/>
                <a:sym typeface="Consolas"/>
              </a:rPr>
              <a:t>04 · CONCLUSIONES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6"/>
          <p:cNvSpPr/>
          <p:nvPr/>
        </p:nvSpPr>
        <p:spPr>
          <a:xfrm>
            <a:off x="320040" y="502920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lang="en-US"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Limitaciones &amp; Trabajo Futuro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6"/>
          <p:cNvSpPr/>
          <p:nvPr/>
        </p:nvSpPr>
        <p:spPr>
          <a:xfrm>
            <a:off x="274320" y="1207008"/>
            <a:ext cx="4114800" cy="3657600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6"/>
          <p:cNvSpPr/>
          <p:nvPr/>
        </p:nvSpPr>
        <p:spPr>
          <a:xfrm>
            <a:off x="274320" y="1207008"/>
            <a:ext cx="64008" cy="3657600"/>
          </a:xfrm>
          <a:prstGeom prst="rect">
            <a:avLst/>
          </a:prstGeom>
          <a:solidFill>
            <a:srgbClr val="FF4D6D"/>
          </a:solidFill>
          <a:ln cap="flat" cmpd="sng" w="12700">
            <a:solidFill>
              <a:srgbClr val="FF4D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3" name="Google Shape;6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3502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16"/>
          <p:cNvSpPr/>
          <p:nvPr/>
        </p:nvSpPr>
        <p:spPr>
          <a:xfrm>
            <a:off x="914400" y="1335024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D6D"/>
              </a:buClr>
              <a:buSzPts val="1300"/>
              <a:buFont typeface="Trebuchet MS"/>
              <a:buNone/>
            </a:pPr>
            <a:r>
              <a:rPr b="1" lang="en-US" sz="2000">
                <a:solidFill>
                  <a:srgbClr val="FF4D6D"/>
                </a:solidFill>
                <a:latin typeface="Trebuchet MS"/>
                <a:ea typeface="Trebuchet MS"/>
                <a:cs typeface="Trebuchet MS"/>
                <a:sym typeface="Trebuchet MS"/>
              </a:rPr>
              <a:t>Limitaciones actuales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5" name="Google Shape;615;p16"/>
          <p:cNvCxnSpPr/>
          <p:nvPr/>
        </p:nvCxnSpPr>
        <p:spPr>
          <a:xfrm>
            <a:off x="384048" y="1993392"/>
            <a:ext cx="164592" cy="164592"/>
          </a:xfrm>
          <a:prstGeom prst="straightConnector1">
            <a:avLst/>
          </a:prstGeom>
          <a:solidFill>
            <a:srgbClr val="FF4D6D"/>
          </a:solidFill>
          <a:ln cap="flat" cmpd="sng" w="12700">
            <a:solidFill>
              <a:srgbClr val="FF4D6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6" name="Google Shape;616;p16"/>
          <p:cNvSpPr/>
          <p:nvPr/>
        </p:nvSpPr>
        <p:spPr>
          <a:xfrm>
            <a:off x="658368" y="190195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D6D"/>
              </a:buClr>
              <a:buSzPts val="1100"/>
              <a:buFont typeface="Calibri"/>
              <a:buNone/>
            </a:pPr>
            <a:r>
              <a:rPr b="1" lang="en-US" sz="1500">
                <a:solidFill>
                  <a:srgbClr val="FF4D6D"/>
                </a:solidFill>
                <a:latin typeface="Calibri"/>
                <a:ea typeface="Calibri"/>
                <a:cs typeface="Calibri"/>
                <a:sym typeface="Calibri"/>
              </a:rPr>
              <a:t>Semilla no autónoma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6"/>
          <p:cNvSpPr/>
          <p:nvPr/>
        </p:nvSpPr>
        <p:spPr>
          <a:xfrm>
            <a:off x="658368" y="2176272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050"/>
              <a:buFont typeface="Calibri"/>
              <a:buNone/>
            </a:pPr>
            <a:r>
              <a:rPr lang="en-US" sz="15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Requiere referencia Ground Truth como guía médica, no es 100% autónomo.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8" name="Google Shape;618;p16"/>
          <p:cNvCxnSpPr/>
          <p:nvPr/>
        </p:nvCxnSpPr>
        <p:spPr>
          <a:xfrm>
            <a:off x="384048" y="2953512"/>
            <a:ext cx="164592" cy="164592"/>
          </a:xfrm>
          <a:prstGeom prst="straightConnector1">
            <a:avLst/>
          </a:prstGeom>
          <a:solidFill>
            <a:srgbClr val="FF4D6D"/>
          </a:solidFill>
          <a:ln cap="flat" cmpd="sng" w="12700">
            <a:solidFill>
              <a:srgbClr val="FF4D6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9" name="Google Shape;619;p16"/>
          <p:cNvSpPr/>
          <p:nvPr/>
        </p:nvSpPr>
        <p:spPr>
          <a:xfrm>
            <a:off x="658368" y="286207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D6D"/>
              </a:buClr>
              <a:buSzPts val="1100"/>
              <a:buFont typeface="Calibri"/>
              <a:buNone/>
            </a:pPr>
            <a:r>
              <a:rPr b="1" lang="en-US" sz="1500">
                <a:solidFill>
                  <a:srgbClr val="FF4D6D"/>
                </a:solidFill>
                <a:latin typeface="Calibri"/>
                <a:ea typeface="Calibri"/>
                <a:cs typeface="Calibri"/>
                <a:sym typeface="Calibri"/>
              </a:rPr>
              <a:t>Solo tumores hiperintensos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6"/>
          <p:cNvSpPr/>
          <p:nvPr/>
        </p:nvSpPr>
        <p:spPr>
          <a:xfrm>
            <a:off x="658368" y="3136392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050"/>
              <a:buFont typeface="Calibri"/>
              <a:buNone/>
            </a:pPr>
            <a:r>
              <a:rPr lang="en-US" sz="15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Asume FLAIR, no maneja lesiones hipointensas ni necrosis central.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1" name="Google Shape;621;p16"/>
          <p:cNvCxnSpPr/>
          <p:nvPr/>
        </p:nvCxnSpPr>
        <p:spPr>
          <a:xfrm>
            <a:off x="384048" y="3913632"/>
            <a:ext cx="164592" cy="164592"/>
          </a:xfrm>
          <a:prstGeom prst="straightConnector1">
            <a:avLst/>
          </a:prstGeom>
          <a:solidFill>
            <a:srgbClr val="FF4D6D"/>
          </a:solidFill>
          <a:ln cap="flat" cmpd="sng" w="12700">
            <a:solidFill>
              <a:srgbClr val="FF4D6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2" name="Google Shape;622;p16"/>
          <p:cNvSpPr/>
          <p:nvPr/>
        </p:nvSpPr>
        <p:spPr>
          <a:xfrm>
            <a:off x="658368" y="382219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D6D"/>
              </a:buClr>
              <a:buSzPts val="1100"/>
              <a:buFont typeface="Calibri"/>
              <a:buNone/>
            </a:pPr>
            <a:r>
              <a:rPr b="1" lang="en-US" sz="1500">
                <a:solidFill>
                  <a:srgbClr val="FF4D6D"/>
                </a:solidFill>
                <a:latin typeface="Calibri"/>
                <a:ea typeface="Calibri"/>
                <a:cs typeface="Calibri"/>
                <a:sym typeface="Calibri"/>
              </a:rPr>
              <a:t>Solo 2D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6"/>
          <p:cNvSpPr/>
          <p:nvPr/>
        </p:nvSpPr>
        <p:spPr>
          <a:xfrm>
            <a:off x="658368" y="4096512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1050"/>
              <a:buFont typeface="Calibri"/>
              <a:buNone/>
            </a:pPr>
            <a:r>
              <a:rPr lang="en-US" sz="15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Opera sobre cortes axiales, no reconstruye volumen 3D de la masa tumoral.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6"/>
          <p:cNvSpPr/>
          <p:nvPr/>
        </p:nvSpPr>
        <p:spPr>
          <a:xfrm>
            <a:off x="4617720" y="1207008"/>
            <a:ext cx="4206240" cy="3657600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6"/>
          <p:cNvSpPr/>
          <p:nvPr/>
        </p:nvSpPr>
        <p:spPr>
          <a:xfrm>
            <a:off x="4617720" y="1207008"/>
            <a:ext cx="64008" cy="36576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6" name="Google Shape;6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133502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16"/>
          <p:cNvSpPr/>
          <p:nvPr/>
        </p:nvSpPr>
        <p:spPr>
          <a:xfrm>
            <a:off x="5285232" y="1335024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Trebuchet MS"/>
              <a:buNone/>
            </a:pPr>
            <a:r>
              <a:rPr b="1" lang="en-US" sz="2000">
                <a:solidFill>
                  <a:srgbClr val="00A896"/>
                </a:solidFill>
                <a:latin typeface="Trebuchet MS"/>
                <a:ea typeface="Trebuchet MS"/>
                <a:cs typeface="Trebuchet MS"/>
                <a:sym typeface="Trebuchet MS"/>
              </a:rPr>
              <a:t>Líneas de Mejora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6"/>
          <p:cNvSpPr/>
          <p:nvPr/>
        </p:nvSpPr>
        <p:spPr>
          <a:xfrm>
            <a:off x="4754880" y="1901952"/>
            <a:ext cx="3913632" cy="841248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9" name="Google Shape;62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64608" y="208483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16"/>
          <p:cNvSpPr/>
          <p:nvPr/>
        </p:nvSpPr>
        <p:spPr>
          <a:xfrm>
            <a:off x="5266944" y="199339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50"/>
              <a:buFont typeface="Trebuchet MS"/>
              <a:buNone/>
            </a:pPr>
            <a:r>
              <a:rPr b="1" lang="en-US">
                <a:solidFill>
                  <a:srgbClr val="00A896"/>
                </a:solidFill>
                <a:latin typeface="Trebuchet MS"/>
                <a:ea typeface="Trebuchet MS"/>
                <a:cs typeface="Trebuchet MS"/>
                <a:sym typeface="Trebuchet MS"/>
              </a:rPr>
              <a:t>Detección autónoma de semilla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6"/>
          <p:cNvSpPr/>
          <p:nvPr/>
        </p:nvSpPr>
        <p:spPr>
          <a:xfrm>
            <a:off x="5266950" y="2286000"/>
            <a:ext cx="3383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950"/>
              <a:buFont typeface="Calibri"/>
              <a:buNone/>
            </a:pPr>
            <a:r>
              <a:rPr lang="en-US" sz="13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Atlas de probabilidad tisular de cerebros sanos para localización sin referencia médica.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6"/>
          <p:cNvSpPr/>
          <p:nvPr/>
        </p:nvSpPr>
        <p:spPr>
          <a:xfrm>
            <a:off x="4754880" y="2862072"/>
            <a:ext cx="3913632" cy="841248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3" name="Google Shape;63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64608" y="304495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16"/>
          <p:cNvSpPr/>
          <p:nvPr/>
        </p:nvSpPr>
        <p:spPr>
          <a:xfrm>
            <a:off x="5266944" y="295351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50"/>
              <a:buFont typeface="Trebuchet MS"/>
              <a:buNone/>
            </a:pPr>
            <a:r>
              <a:rPr b="1" lang="en-US">
                <a:solidFill>
                  <a:srgbClr val="00A896"/>
                </a:solidFill>
                <a:latin typeface="Trebuchet MS"/>
                <a:ea typeface="Trebuchet MS"/>
                <a:cs typeface="Trebuchet MS"/>
                <a:sym typeface="Trebuchet MS"/>
              </a:rPr>
              <a:t>Machine Learning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6"/>
          <p:cNvSpPr/>
          <p:nvPr/>
        </p:nvSpPr>
        <p:spPr>
          <a:xfrm>
            <a:off x="5266950" y="3246122"/>
            <a:ext cx="3383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950"/>
              <a:buFont typeface="Calibri"/>
              <a:buNone/>
            </a:pPr>
            <a:r>
              <a:rPr lang="en-US" sz="13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Incorporar ML para mejorar precisión y robustez ante distintos tipos de lesiones.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6"/>
          <p:cNvSpPr/>
          <p:nvPr/>
        </p:nvSpPr>
        <p:spPr>
          <a:xfrm>
            <a:off x="4754880" y="3822192"/>
            <a:ext cx="3913632" cy="841248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E2D4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7" name="Google Shape;63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64608" y="400507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16"/>
          <p:cNvSpPr/>
          <p:nvPr/>
        </p:nvSpPr>
        <p:spPr>
          <a:xfrm>
            <a:off x="5266944" y="391363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50"/>
              <a:buFont typeface="Trebuchet MS"/>
              <a:buNone/>
            </a:pPr>
            <a:r>
              <a:rPr b="1" lang="en-US">
                <a:solidFill>
                  <a:srgbClr val="00A896"/>
                </a:solidFill>
                <a:latin typeface="Trebuchet MS"/>
                <a:ea typeface="Trebuchet MS"/>
                <a:cs typeface="Trebuchet MS"/>
                <a:sym typeface="Trebuchet MS"/>
              </a:rPr>
              <a:t>Extensión 3D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6"/>
          <p:cNvSpPr/>
          <p:nvPr/>
        </p:nvSpPr>
        <p:spPr>
          <a:xfrm>
            <a:off x="5266950" y="4206244"/>
            <a:ext cx="3383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0"/>
              </a:buClr>
              <a:buSzPts val="950"/>
              <a:buFont typeface="Calibri"/>
              <a:buNone/>
            </a:pPr>
            <a:r>
              <a:rPr lang="en-US" sz="1300">
                <a:solidFill>
                  <a:srgbClr val="CDD5E0"/>
                </a:solidFill>
                <a:latin typeface="Calibri"/>
                <a:ea typeface="Calibri"/>
                <a:cs typeface="Calibri"/>
                <a:sym typeface="Calibri"/>
              </a:rPr>
              <a:t>Operadores morfológicos volumétricos para reconstrucción y seguimiento temporal del tumor.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1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E0"/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7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7" name="Google Shape;647;p17"/>
          <p:cNvPicPr preferRelativeResize="0"/>
          <p:nvPr/>
        </p:nvPicPr>
        <p:blipFill rotWithShape="1">
          <a:blip r:embed="rId3">
            <a:alphaModFix amt="78000"/>
          </a:blip>
          <a:srcRect b="0" l="0" r="0" t="0"/>
          <a:stretch/>
        </p:blipFill>
        <p:spPr>
          <a:xfrm>
            <a:off x="3291840" y="228600"/>
            <a:ext cx="2560320" cy="2560320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17"/>
          <p:cNvSpPr/>
          <p:nvPr/>
        </p:nvSpPr>
        <p:spPr>
          <a:xfrm>
            <a:off x="457200" y="288036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Trebuchet MS"/>
              <a:buNone/>
            </a:pPr>
            <a:r>
              <a:rPr b="1" lang="en-US" sz="5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¡Gracias!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7"/>
          <p:cNvSpPr/>
          <p:nvPr/>
        </p:nvSpPr>
        <p:spPr>
          <a:xfrm>
            <a:off x="2743200" y="3840480"/>
            <a:ext cx="3657600" cy="36576"/>
          </a:xfrm>
          <a:prstGeom prst="rect">
            <a:avLst/>
          </a:prstGeom>
          <a:solidFill>
            <a:srgbClr val="00C8E0">
              <a:alpha val="60000"/>
            </a:srgbClr>
          </a:solidFill>
          <a:ln cap="flat" cmpd="sng" w="12700">
            <a:solidFill>
              <a:srgbClr val="00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7"/>
          <p:cNvSpPr/>
          <p:nvPr/>
        </p:nvSpPr>
        <p:spPr>
          <a:xfrm>
            <a:off x="457200" y="3931920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Procesamiento de Señales e Imágenes Biomédicas · 2026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7"/>
          <p:cNvSpPr/>
          <p:nvPr/>
        </p:nvSpPr>
        <p:spPr>
          <a:xfrm>
            <a:off x="457200" y="4279392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E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Grupo 10 — Kestelboim · Suarez · </a:t>
            </a:r>
            <a:r>
              <a:rPr lang="en-US" sz="1200">
                <a:solidFill>
                  <a:srgbClr val="00C8E0"/>
                </a:solidFill>
                <a:latin typeface="Calibri"/>
                <a:ea typeface="Calibri"/>
                <a:cs typeface="Calibri"/>
                <a:sym typeface="Calibri"/>
              </a:rPr>
              <a:t>Caroccia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2026-06-07T23:39:57Z</dcterms:created>
  <dc:creator>PptxGenJS</dc:creator>
</cp:coreProperties>
</file>